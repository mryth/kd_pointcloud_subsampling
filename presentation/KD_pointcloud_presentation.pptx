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Teacher (0.8M)</c:v>
                </c:pt>
              </c:strCache>
            </c:strRef>
          </c:tx>
          <c:spPr>
            <a:solidFill>
              <a:srgbClr val="1C7293"/>
            </a:solidFill>
            <a:ln w="38100" cap="flat">
              <a:solidFill>
                <a:srgbClr val="1C729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C7293"/>
              </a:solidFill>
              <a:ln w="9525" cap="flat">
                <a:solidFill>
                  <a:srgbClr val="1C7293"/>
                </a:solidFill>
                <a:prstDash val="solid"/>
                <a:round/>
              </a:ln>
              <a:effectLst/>
            </c:spPr>
          </c:marker>
          <c:cat>
            <c:multiLvlStrRef>
              <c:f>Sheet1!$A$2:$A$8</c:f>
              <c:multiLvlStrCache>
                <c:ptCount val="7"/>
                <c:lvl>
                  <c:pt idx="0">
                    <c:v>1024</c:v>
                  </c:pt>
                  <c:pt idx="1">
                    <c:v>512</c:v>
                  </c:pt>
                  <c:pt idx="2">
                    <c:v>256</c:v>
                  </c:pt>
                  <c:pt idx="3">
                    <c:v>128</c:v>
                  </c:pt>
                  <c:pt idx="4">
                    <c:v>64</c:v>
                  </c:pt>
                  <c:pt idx="5">
                    <c:v>32</c:v>
                  </c:pt>
                  <c:pt idx="6">
                    <c:v>16</c:v>
                  </c:pt>
                </c:lvl>
              </c:multiLvlStrCache>
            </c:multiLvlStrRef>
          </c:cat>
          <c:val>
            <c:numRef>
              <c:f>Sheet1!$B$2:$B$8</c:f>
              <c:numCache>
                <c:formatCode>General</c:formatCode>
                <c:ptCount val="7"/>
                <c:pt idx="0">
                  <c:v>0.765</c:v>
                </c:pt>
                <c:pt idx="1">
                  <c:v>0.762</c:v>
                </c:pt>
                <c:pt idx="2">
                  <c:v>0.748</c:v>
                </c:pt>
                <c:pt idx="3">
                  <c:v>0.72</c:v>
                </c:pt>
                <c:pt idx="4">
                  <c:v>0.668</c:v>
                </c:pt>
                <c:pt idx="5">
                  <c:v>0.671</c:v>
                </c:pt>
                <c:pt idx="6">
                  <c:v>0.605</c:v>
                </c:pt>
              </c:numCache>
            </c:numRef>
          </c:val>
          <c:smooth val="0"/>
        </c:ser>
        <c:ser>
          <c:idx val="1"/>
          <c:order val="1"/>
          <c:tx>
            <c:strRef>
              <c:f>Sheet1!$C$1</c:f>
              <c:strCache>
                <c:ptCount val="1"/>
                <c:pt idx="0">
                  <c:v>Student scratch (54k)</c:v>
                </c:pt>
              </c:strCache>
            </c:strRef>
          </c:tx>
          <c:spPr>
            <a:solidFill>
              <a:srgbClr val="E76F51"/>
            </a:solidFill>
            <a:ln w="3810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76F51"/>
              </a:solidFill>
              <a:ln w="9525" cap="flat">
                <a:solidFill>
                  <a:srgbClr val="E76F51"/>
                </a:solidFill>
                <a:prstDash val="solid"/>
                <a:round/>
              </a:ln>
              <a:effectLst/>
            </c:spPr>
          </c:marker>
          <c:cat>
            <c:multiLvlStrRef>
              <c:f>Sheet1!$A$2:$A$8</c:f>
              <c:multiLvlStrCache>
                <c:ptCount val="7"/>
                <c:lvl>
                  <c:pt idx="0">
                    <c:v>1024</c:v>
                  </c:pt>
                  <c:pt idx="1">
                    <c:v>512</c:v>
                  </c:pt>
                  <c:pt idx="2">
                    <c:v>256</c:v>
                  </c:pt>
                  <c:pt idx="3">
                    <c:v>128</c:v>
                  </c:pt>
                  <c:pt idx="4">
                    <c:v>64</c:v>
                  </c:pt>
                  <c:pt idx="5">
                    <c:v>32</c:v>
                  </c:pt>
                  <c:pt idx="6">
                    <c:v>16</c:v>
                  </c:pt>
                </c:lvl>
              </c:multiLvlStrCache>
            </c:multiLvlStrRef>
          </c:cat>
          <c:val>
            <c:numRef>
              <c:f>Sheet1!$C$2:$C$8</c:f>
              <c:numCache>
                <c:formatCode>General</c:formatCode>
                <c:ptCount val="7"/>
                <c:pt idx="0">
                  <c:v>0.763</c:v>
                </c:pt>
                <c:pt idx="1">
                  <c:v>0.758</c:v>
                </c:pt>
                <c:pt idx="2">
                  <c:v>0.746</c:v>
                </c:pt>
                <c:pt idx="3">
                  <c:v>0.714</c:v>
                </c:pt>
                <c:pt idx="4">
                  <c:v>0.66</c:v>
                </c:pt>
                <c:pt idx="5">
                  <c:v>0.654</c:v>
                </c:pt>
                <c:pt idx="6">
                  <c:v>0.585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7B84"/>
                    </a:solidFill>
                    <a:latin typeface="Calibri"/>
                  </a:defRPr>
                </a:pPr>
                <a:r>
                  <a:rPr sz="1100" b="0" i="0" u="none" strike="noStrike">
                    <a:solidFill>
                      <a:srgbClr val="6B7B84"/>
                    </a:solidFill>
                    <a:latin typeface="Calibri"/>
                  </a:rPr>
                  <a:t># points à l'inférence (→ plus parcimonieux)</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B84"/>
                </a:solidFill>
                <a:latin typeface="Calibri"/>
              </a:defRPr>
            </a:pPr>
            <a:endParaRPr lang="en-US"/>
          </a:p>
        </c:txPr>
        <c:crossAx val="2094734552"/>
        <c:crosses val="autoZero"/>
        <c:auto val="1"/>
        <c:lblAlgn val="ctr"/>
        <c:noMultiLvlLbl val="1"/>
      </c:catAx>
      <c:valAx>
        <c:axId val="2094734552"/>
        <c:scaling>
          <c:orientation val="minMax"/>
          <c:max val="0.85"/>
          <c:min val="0.55"/>
        </c:scaling>
        <c:delete val="0"/>
        <c:axPos val="l"/>
        <c:majorGridlines>
          <c:spPr>
            <a:ln w="12700" cap="flat">
              <a:solidFill>
                <a:srgbClr val="E6ECEF"/>
              </a:solidFill>
              <a:prstDash val="solid"/>
              <a:round/>
            </a:ln>
          </c:spPr>
        </c:majorGridlines>
        <c:title>
          <c:tx>
            <c:rich>
              <a:bodyPr/>
              <a:lstStyle/>
              <a:p>
                <a:pPr>
                  <a:defRPr sz="1100" b="0" i="0" u="none" strike="noStrike">
                    <a:solidFill>
                      <a:srgbClr val="6B7B84"/>
                    </a:solidFill>
                    <a:latin typeface="Calibri"/>
                  </a:defRPr>
                </a:pPr>
                <a:r>
                  <a:rPr sz="1100" b="0" i="0" u="none" strike="noStrike">
                    <a:solidFill>
                      <a:srgbClr val="6B7B84"/>
                    </a:solidFill>
                    <a:latin typeface="Calibri"/>
                  </a:rPr>
                  <a:t>ROC-AUC (moyenne 5 seeds)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B84"/>
                </a:solidFill>
                <a:latin typeface="Calibri"/>
              </a:defRPr>
            </a:pPr>
            <a:endParaRPr lang="en-US"/>
          </a:p>
        </c:txPr>
        <c:crossAx val="2094734554"/>
        <c:crosses val="autoZero"/>
        <c:crossBetween val="between"/>
        <c:majorUnit val="0.05"/>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Teacher dense</c:v>
                </c:pt>
              </c:strCache>
            </c:strRef>
          </c:tx>
          <c:spPr>
            <a:solidFill>
              <a:srgbClr val="0B3C5D"/>
            </a:solidFill>
            <a:ln w="38100" cap="flat">
              <a:solidFill>
                <a:srgbClr val="0B3C5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B3C5D"/>
              </a:solidFill>
              <a:ln w="9525" cap="flat">
                <a:solidFill>
                  <a:srgbClr val="0B3C5D"/>
                </a:solidFill>
                <a:prstDash val="solid"/>
                <a:round/>
              </a:ln>
              <a:effectLst/>
            </c:spPr>
          </c:marker>
          <c:cat>
            <c:multiLvlStrRef>
              <c:f>Sheet1!$A$2:$A$8</c:f>
              <c:multiLvlStrCache>
                <c:ptCount val="7"/>
                <c:lvl>
                  <c:pt idx="0">
                    <c:v>1024</c:v>
                  </c:pt>
                  <c:pt idx="1">
                    <c:v>512</c:v>
                  </c:pt>
                  <c:pt idx="2">
                    <c:v>256</c:v>
                  </c:pt>
                  <c:pt idx="3">
                    <c:v>128</c:v>
                  </c:pt>
                  <c:pt idx="4">
                    <c:v>64</c:v>
                  </c:pt>
                  <c:pt idx="5">
                    <c:v>32</c:v>
                  </c:pt>
                  <c:pt idx="6">
                    <c:v>16</c:v>
                  </c:pt>
                </c:lvl>
              </c:multiLvlStrCache>
            </c:multiLvlStrRef>
          </c:cat>
          <c:val>
            <c:numRef>
              <c:f>Sheet1!$B$2:$B$8</c:f>
              <c:numCache>
                <c:formatCode>General</c:formatCode>
                <c:ptCount val="7"/>
                <c:pt idx="0">
                  <c:v>0.765</c:v>
                </c:pt>
                <c:pt idx="1">
                  <c:v>0.762</c:v>
                </c:pt>
                <c:pt idx="2">
                  <c:v>0.748</c:v>
                </c:pt>
                <c:pt idx="3">
                  <c:v>0.72</c:v>
                </c:pt>
                <c:pt idx="4">
                  <c:v>0.668</c:v>
                </c:pt>
                <c:pt idx="5">
                  <c:v>0.671</c:v>
                </c:pt>
                <c:pt idx="6">
                  <c:v>0.605</c:v>
                </c:pt>
              </c:numCache>
            </c:numRef>
          </c:val>
          <c:smooth val="0"/>
        </c:ser>
        <c:ser>
          <c:idx val="1"/>
          <c:order val="1"/>
          <c:tx>
            <c:strRef>
              <c:f>Sheet1!$C$1</c:f>
              <c:strCache>
                <c:ptCount val="1"/>
                <c:pt idx="0">
                  <c:v>Scratch</c:v>
                </c:pt>
              </c:strCache>
            </c:strRef>
          </c:tx>
          <c:spPr>
            <a:solidFill>
              <a:srgbClr val="A9B6BC"/>
            </a:solidFill>
            <a:ln w="38100" cap="flat">
              <a:solidFill>
                <a:srgbClr val="A9B6B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A9B6BC"/>
              </a:solidFill>
              <a:ln w="9525" cap="flat">
                <a:solidFill>
                  <a:srgbClr val="A9B6BC"/>
                </a:solidFill>
                <a:prstDash val="solid"/>
                <a:round/>
              </a:ln>
              <a:effectLst/>
            </c:spPr>
          </c:marker>
          <c:cat>
            <c:multiLvlStrRef>
              <c:f>Sheet1!$A$2:$A$8</c:f>
              <c:multiLvlStrCache>
                <c:ptCount val="7"/>
                <c:lvl>
                  <c:pt idx="0">
                    <c:v>1024</c:v>
                  </c:pt>
                  <c:pt idx="1">
                    <c:v>512</c:v>
                  </c:pt>
                  <c:pt idx="2">
                    <c:v>256</c:v>
                  </c:pt>
                  <c:pt idx="3">
                    <c:v>128</c:v>
                  </c:pt>
                  <c:pt idx="4">
                    <c:v>64</c:v>
                  </c:pt>
                  <c:pt idx="5">
                    <c:v>32</c:v>
                  </c:pt>
                  <c:pt idx="6">
                    <c:v>16</c:v>
                  </c:pt>
                </c:lvl>
              </c:multiLvlStrCache>
            </c:multiLvlStrRef>
          </c:cat>
          <c:val>
            <c:numRef>
              <c:f>Sheet1!$C$2:$C$8</c:f>
              <c:numCache>
                <c:formatCode>General</c:formatCode>
                <c:ptCount val="7"/>
                <c:pt idx="0">
                  <c:v>0.763</c:v>
                </c:pt>
                <c:pt idx="1">
                  <c:v>0.758</c:v>
                </c:pt>
                <c:pt idx="2">
                  <c:v>0.746</c:v>
                </c:pt>
                <c:pt idx="3">
                  <c:v>0.714</c:v>
                </c:pt>
                <c:pt idx="4">
                  <c:v>0.66</c:v>
                </c:pt>
                <c:pt idx="5">
                  <c:v>0.654</c:v>
                </c:pt>
                <c:pt idx="6">
                  <c:v>0.585</c:v>
                </c:pt>
              </c:numCache>
            </c:numRef>
          </c:val>
          <c:smooth val="0"/>
        </c:ser>
        <c:ser>
          <c:idx val="2"/>
          <c:order val="2"/>
          <c:tx>
            <c:strRef>
              <c:f>Sheet1!$D$1</c:f>
              <c:strCache>
                <c:ptCount val="1"/>
                <c:pt idx="0">
                  <c:v>KD logit</c:v>
                </c:pt>
              </c:strCache>
            </c:strRef>
          </c:tx>
          <c:spPr>
            <a:solidFill>
              <a:srgbClr val="8FB8C4"/>
            </a:solidFill>
            <a:ln w="38100" cap="flat">
              <a:solidFill>
                <a:srgbClr val="8FB8C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8FB8C4"/>
              </a:solidFill>
              <a:ln w="9525" cap="flat">
                <a:solidFill>
                  <a:srgbClr val="8FB8C4"/>
                </a:solidFill>
                <a:prstDash val="solid"/>
                <a:round/>
              </a:ln>
              <a:effectLst/>
            </c:spPr>
          </c:marker>
          <c:cat>
            <c:multiLvlStrRef>
              <c:f>Sheet1!$A$2:$A$8</c:f>
              <c:multiLvlStrCache>
                <c:ptCount val="7"/>
                <c:lvl>
                  <c:pt idx="0">
                    <c:v>1024</c:v>
                  </c:pt>
                  <c:pt idx="1">
                    <c:v>512</c:v>
                  </c:pt>
                  <c:pt idx="2">
                    <c:v>256</c:v>
                  </c:pt>
                  <c:pt idx="3">
                    <c:v>128</c:v>
                  </c:pt>
                  <c:pt idx="4">
                    <c:v>64</c:v>
                  </c:pt>
                  <c:pt idx="5">
                    <c:v>32</c:v>
                  </c:pt>
                  <c:pt idx="6">
                    <c:v>16</c:v>
                  </c:pt>
                </c:lvl>
              </c:multiLvlStrCache>
            </c:multiLvlStrRef>
          </c:cat>
          <c:val>
            <c:numRef>
              <c:f>Sheet1!$D$2:$D$8</c:f>
              <c:numCache>
                <c:formatCode>General</c:formatCode>
                <c:ptCount val="7"/>
                <c:pt idx="0">
                  <c:v>0.779</c:v>
                </c:pt>
                <c:pt idx="1">
                  <c:v>0.779</c:v>
                </c:pt>
                <c:pt idx="2">
                  <c:v>0.765</c:v>
                </c:pt>
                <c:pt idx="3">
                  <c:v>0.739</c:v>
                </c:pt>
                <c:pt idx="4">
                  <c:v>0.673</c:v>
                </c:pt>
                <c:pt idx="5">
                  <c:v>0.666</c:v>
                </c:pt>
                <c:pt idx="6">
                  <c:v>0.582</c:v>
                </c:pt>
              </c:numCache>
            </c:numRef>
          </c:val>
          <c:smooth val="0"/>
        </c:ser>
        <c:ser>
          <c:idx val="3"/>
          <c:order val="3"/>
          <c:tx>
            <c:strRef>
              <c:f>Sheet1!$E$1</c:f>
              <c:strCache>
                <c:ptCount val="1"/>
                <c:pt idx="0">
                  <c:v>Aug (témoin)</c:v>
                </c:pt>
              </c:strCache>
            </c:strRef>
          </c:tx>
          <c:spPr>
            <a:solidFill>
              <a:srgbClr val="E76F51"/>
            </a:solidFill>
            <a:ln w="3810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76F51"/>
              </a:solidFill>
              <a:ln w="9525" cap="flat">
                <a:solidFill>
                  <a:srgbClr val="E76F51"/>
                </a:solidFill>
                <a:prstDash val="solid"/>
                <a:round/>
              </a:ln>
              <a:effectLst/>
            </c:spPr>
          </c:marker>
          <c:cat>
            <c:multiLvlStrRef>
              <c:f>Sheet1!$A$2:$A$8</c:f>
              <c:multiLvlStrCache>
                <c:ptCount val="7"/>
                <c:lvl>
                  <c:pt idx="0">
                    <c:v>1024</c:v>
                  </c:pt>
                  <c:pt idx="1">
                    <c:v>512</c:v>
                  </c:pt>
                  <c:pt idx="2">
                    <c:v>256</c:v>
                  </c:pt>
                  <c:pt idx="3">
                    <c:v>128</c:v>
                  </c:pt>
                  <c:pt idx="4">
                    <c:v>64</c:v>
                  </c:pt>
                  <c:pt idx="5">
                    <c:v>32</c:v>
                  </c:pt>
                  <c:pt idx="6">
                    <c:v>16</c:v>
                  </c:pt>
                </c:lvl>
              </c:multiLvlStrCache>
            </c:multiLvlStrRef>
          </c:cat>
          <c:val>
            <c:numRef>
              <c:f>Sheet1!$E$2:$E$8</c:f>
              <c:numCache>
                <c:formatCode>General</c:formatCode>
                <c:ptCount val="7"/>
                <c:pt idx="0">
                  <c:v>0.791</c:v>
                </c:pt>
                <c:pt idx="1">
                  <c:v>0.796</c:v>
                </c:pt>
                <c:pt idx="2">
                  <c:v>0.798</c:v>
                </c:pt>
                <c:pt idx="3">
                  <c:v>0.779</c:v>
                </c:pt>
                <c:pt idx="4">
                  <c:v>0.743</c:v>
                </c:pt>
                <c:pt idx="5">
                  <c:v>0.726</c:v>
                </c:pt>
                <c:pt idx="6">
                  <c:v>0.648</c:v>
                </c:pt>
              </c:numCache>
            </c:numRef>
          </c:val>
          <c:smooth val="0"/>
        </c:ser>
        <c:ser>
          <c:idx val="4"/>
          <c:order val="4"/>
          <c:tx>
            <c:strRef>
              <c:f>Sheet1!$F$1</c:f>
              <c:strCache>
                <c:ptCount val="1"/>
                <c:pt idx="0">
                  <c:v>KD robuste</c:v>
                </c:pt>
              </c:strCache>
            </c:strRef>
          </c:tx>
          <c:spPr>
            <a:solidFill>
              <a:srgbClr val="2EC4B6"/>
            </a:solidFill>
            <a:ln w="3810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EC4B6"/>
              </a:solidFill>
              <a:ln w="9525" cap="flat">
                <a:solidFill>
                  <a:srgbClr val="2EC4B6"/>
                </a:solidFill>
                <a:prstDash val="solid"/>
                <a:round/>
              </a:ln>
              <a:effectLst/>
            </c:spPr>
          </c:marker>
          <c:cat>
            <c:multiLvlStrRef>
              <c:f>Sheet1!$A$2:$A$8</c:f>
              <c:multiLvlStrCache>
                <c:ptCount val="7"/>
                <c:lvl>
                  <c:pt idx="0">
                    <c:v>1024</c:v>
                  </c:pt>
                  <c:pt idx="1">
                    <c:v>512</c:v>
                  </c:pt>
                  <c:pt idx="2">
                    <c:v>256</c:v>
                  </c:pt>
                  <c:pt idx="3">
                    <c:v>128</c:v>
                  </c:pt>
                  <c:pt idx="4">
                    <c:v>64</c:v>
                  </c:pt>
                  <c:pt idx="5">
                    <c:v>32</c:v>
                  </c:pt>
                  <c:pt idx="6">
                    <c:v>16</c:v>
                  </c:pt>
                </c:lvl>
              </c:multiLvlStrCache>
            </c:multiLvlStrRef>
          </c:cat>
          <c:val>
            <c:numRef>
              <c:f>Sheet1!$F$2:$F$8</c:f>
              <c:numCache>
                <c:formatCode>General</c:formatCode>
                <c:ptCount val="7"/>
                <c:pt idx="0">
                  <c:v>0.793</c:v>
                </c:pt>
                <c:pt idx="1">
                  <c:v>0.795</c:v>
                </c:pt>
                <c:pt idx="2">
                  <c:v>0.795</c:v>
                </c:pt>
                <c:pt idx="3">
                  <c:v>0.778</c:v>
                </c:pt>
                <c:pt idx="4">
                  <c:v>0.74</c:v>
                </c:pt>
                <c:pt idx="5">
                  <c:v>0.726</c:v>
                </c:pt>
                <c:pt idx="6">
                  <c:v>0.643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7B84"/>
                    </a:solidFill>
                    <a:latin typeface="Calibri"/>
                  </a:defRPr>
                </a:pPr>
                <a:r>
                  <a:rPr sz="1100" b="0" i="0" u="none" strike="noStrike">
                    <a:solidFill>
                      <a:srgbClr val="6B7B84"/>
                    </a:solidFill>
                    <a:latin typeface="Calibri"/>
                  </a:rPr>
                  <a:t># points à l'inférence (→ plus parcimonieux)</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B84"/>
                </a:solidFill>
                <a:latin typeface="Calibri"/>
              </a:defRPr>
            </a:pPr>
            <a:endParaRPr lang="en-US"/>
          </a:p>
        </c:txPr>
        <c:crossAx val="2094734552"/>
        <c:crosses val="autoZero"/>
        <c:auto val="1"/>
        <c:lblAlgn val="ctr"/>
        <c:noMultiLvlLbl val="1"/>
      </c:catAx>
      <c:valAx>
        <c:axId val="2094734552"/>
        <c:scaling>
          <c:orientation val="minMax"/>
          <c:max val="0.85"/>
          <c:min val="0.55"/>
        </c:scaling>
        <c:delete val="0"/>
        <c:axPos val="l"/>
        <c:majorGridlines>
          <c:spPr>
            <a:ln w="12700" cap="flat">
              <a:solidFill>
                <a:srgbClr val="E6ECEF"/>
              </a:solidFill>
              <a:prstDash val="solid"/>
              <a:round/>
            </a:ln>
          </c:spPr>
        </c:majorGridlines>
        <c:title>
          <c:tx>
            <c:rich>
              <a:bodyPr/>
              <a:lstStyle/>
              <a:p>
                <a:pPr>
                  <a:defRPr sz="1100" b="0" i="0" u="none" strike="noStrike">
                    <a:solidFill>
                      <a:srgbClr val="6B7B84"/>
                    </a:solidFill>
                    <a:latin typeface="Calibri"/>
                  </a:defRPr>
                </a:pPr>
                <a:r>
                  <a:rPr sz="1100" b="0" i="0" u="none" strike="noStrike">
                    <a:solidFill>
                      <a:srgbClr val="6B7B84"/>
                    </a:solidFill>
                    <a:latin typeface="Calibri"/>
                  </a:rPr>
                  <a:t>ROC-AUC (moyenne 5 seeds)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B84"/>
                </a:solidFill>
                <a:latin typeface="Calibri"/>
              </a:defRPr>
            </a:pPr>
            <a:endParaRPr lang="en-US"/>
          </a:p>
        </c:txPr>
        <c:crossAx val="2094734554"/>
        <c:crosses val="autoZero"/>
        <c:crossBetween val="between"/>
        <c:majorUnit val="0.05"/>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Teacher robuste (0.8M)</c:v>
                </c:pt>
              </c:strCache>
            </c:strRef>
          </c:tx>
          <c:spPr>
            <a:solidFill>
              <a:srgbClr val="0B3C5D"/>
            </a:solidFill>
            <a:ln w="38100" cap="flat">
              <a:solidFill>
                <a:srgbClr val="0B3C5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B3C5D"/>
              </a:solidFill>
              <a:ln w="9525" cap="flat">
                <a:solidFill>
                  <a:srgbClr val="0B3C5D"/>
                </a:solidFill>
                <a:prstDash val="solid"/>
                <a:round/>
              </a:ln>
              <a:effectLst/>
            </c:spPr>
          </c:marker>
          <c:cat>
            <c:multiLvlStrRef>
              <c:f>Sheet1!$A$2:$A$8</c:f>
              <c:multiLvlStrCache>
                <c:ptCount val="7"/>
                <c:lvl>
                  <c:pt idx="0">
                    <c:v>1024</c:v>
                  </c:pt>
                  <c:pt idx="1">
                    <c:v>512</c:v>
                  </c:pt>
                  <c:pt idx="2">
                    <c:v>256</c:v>
                  </c:pt>
                  <c:pt idx="3">
                    <c:v>128</c:v>
                  </c:pt>
                  <c:pt idx="4">
                    <c:v>64</c:v>
                  </c:pt>
                  <c:pt idx="5">
                    <c:v>32</c:v>
                  </c:pt>
                  <c:pt idx="6">
                    <c:v>16</c:v>
                  </c:pt>
                </c:lvl>
              </c:multiLvlStrCache>
            </c:multiLvlStrRef>
          </c:cat>
          <c:val>
            <c:numRef>
              <c:f>Sheet1!$B$2:$B$8</c:f>
              <c:numCache>
                <c:formatCode>General</c:formatCode>
                <c:ptCount val="7"/>
                <c:pt idx="0">
                  <c:v>0.783</c:v>
                </c:pt>
                <c:pt idx="1">
                  <c:v>0.788</c:v>
                </c:pt>
                <c:pt idx="2">
                  <c:v>0.793</c:v>
                </c:pt>
                <c:pt idx="3">
                  <c:v>0.774</c:v>
                </c:pt>
                <c:pt idx="4">
                  <c:v>0.728</c:v>
                </c:pt>
                <c:pt idx="5">
                  <c:v>0.709</c:v>
                </c:pt>
                <c:pt idx="6">
                  <c:v>0.646</c:v>
                </c:pt>
              </c:numCache>
            </c:numRef>
          </c:val>
          <c:smooth val="0"/>
        </c:ser>
        <c:ser>
          <c:idx val="1"/>
          <c:order val="1"/>
          <c:tx>
            <c:strRef>
              <c:f>Sheet1!$C$1</c:f>
              <c:strCache>
                <c:ptCount val="1"/>
                <c:pt idx="0">
                  <c:v>Aug (student 54k)</c:v>
                </c:pt>
              </c:strCache>
            </c:strRef>
          </c:tx>
          <c:spPr>
            <a:solidFill>
              <a:srgbClr val="E76F51"/>
            </a:solidFill>
            <a:ln w="3810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76F51"/>
              </a:solidFill>
              <a:ln w="9525" cap="flat">
                <a:solidFill>
                  <a:srgbClr val="E76F51"/>
                </a:solidFill>
                <a:prstDash val="solid"/>
                <a:round/>
              </a:ln>
              <a:effectLst/>
            </c:spPr>
          </c:marker>
          <c:cat>
            <c:multiLvlStrRef>
              <c:f>Sheet1!$A$2:$A$8</c:f>
              <c:multiLvlStrCache>
                <c:ptCount val="7"/>
                <c:lvl>
                  <c:pt idx="0">
                    <c:v>1024</c:v>
                  </c:pt>
                  <c:pt idx="1">
                    <c:v>512</c:v>
                  </c:pt>
                  <c:pt idx="2">
                    <c:v>256</c:v>
                  </c:pt>
                  <c:pt idx="3">
                    <c:v>128</c:v>
                  </c:pt>
                  <c:pt idx="4">
                    <c:v>64</c:v>
                  </c:pt>
                  <c:pt idx="5">
                    <c:v>32</c:v>
                  </c:pt>
                  <c:pt idx="6">
                    <c:v>16</c:v>
                  </c:pt>
                </c:lvl>
              </c:multiLvlStrCache>
            </c:multiLvlStrRef>
          </c:cat>
          <c:val>
            <c:numRef>
              <c:f>Sheet1!$C$2:$C$8</c:f>
              <c:numCache>
                <c:formatCode>General</c:formatCode>
                <c:ptCount val="7"/>
                <c:pt idx="0">
                  <c:v>0.791</c:v>
                </c:pt>
                <c:pt idx="1">
                  <c:v>0.796</c:v>
                </c:pt>
                <c:pt idx="2">
                  <c:v>0.798</c:v>
                </c:pt>
                <c:pt idx="3">
                  <c:v>0.779</c:v>
                </c:pt>
                <c:pt idx="4">
                  <c:v>0.743</c:v>
                </c:pt>
                <c:pt idx="5">
                  <c:v>0.726</c:v>
                </c:pt>
                <c:pt idx="6">
                  <c:v>0.648</c:v>
                </c:pt>
              </c:numCache>
            </c:numRef>
          </c:val>
          <c:smooth val="0"/>
        </c:ser>
        <c:ser>
          <c:idx val="2"/>
          <c:order val="2"/>
          <c:tx>
            <c:strRef>
              <c:f>Sheet1!$D$1</c:f>
              <c:strCache>
                <c:ptCount val="1"/>
                <c:pt idx="0">
                  <c:v>KD depuis teacher robuste</c:v>
                </c:pt>
              </c:strCache>
            </c:strRef>
          </c:tx>
          <c:spPr>
            <a:solidFill>
              <a:srgbClr val="2EC4B6"/>
            </a:solidFill>
            <a:ln w="3810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EC4B6"/>
              </a:solidFill>
              <a:ln w="9525" cap="flat">
                <a:solidFill>
                  <a:srgbClr val="2EC4B6"/>
                </a:solidFill>
                <a:prstDash val="solid"/>
                <a:round/>
              </a:ln>
              <a:effectLst/>
            </c:spPr>
          </c:marker>
          <c:cat>
            <c:multiLvlStrRef>
              <c:f>Sheet1!$A$2:$A$8</c:f>
              <c:multiLvlStrCache>
                <c:ptCount val="7"/>
                <c:lvl>
                  <c:pt idx="0">
                    <c:v>1024</c:v>
                  </c:pt>
                  <c:pt idx="1">
                    <c:v>512</c:v>
                  </c:pt>
                  <c:pt idx="2">
                    <c:v>256</c:v>
                  </c:pt>
                  <c:pt idx="3">
                    <c:v>128</c:v>
                  </c:pt>
                  <c:pt idx="4">
                    <c:v>64</c:v>
                  </c:pt>
                  <c:pt idx="5">
                    <c:v>32</c:v>
                  </c:pt>
                  <c:pt idx="6">
                    <c:v>16</c:v>
                  </c:pt>
                </c:lvl>
              </c:multiLvlStrCache>
            </c:multiLvlStrRef>
          </c:cat>
          <c:val>
            <c:numRef>
              <c:f>Sheet1!$D$2:$D$8</c:f>
              <c:numCache>
                <c:formatCode>General</c:formatCode>
                <c:ptCount val="7"/>
                <c:pt idx="0">
                  <c:v>0.794</c:v>
                </c:pt>
                <c:pt idx="1">
                  <c:v>0.794</c:v>
                </c:pt>
                <c:pt idx="2">
                  <c:v>0.793</c:v>
                </c:pt>
                <c:pt idx="3">
                  <c:v>0.775</c:v>
                </c:pt>
                <c:pt idx="4">
                  <c:v>0.739</c:v>
                </c:pt>
                <c:pt idx="5">
                  <c:v>0.731</c:v>
                </c:pt>
                <c:pt idx="6">
                  <c:v>0.652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7B84"/>
                    </a:solidFill>
                    <a:latin typeface="Calibri"/>
                  </a:defRPr>
                </a:pPr>
                <a:r>
                  <a:rPr sz="1100" b="0" i="0" u="none" strike="noStrike">
                    <a:solidFill>
                      <a:srgbClr val="6B7B84"/>
                    </a:solidFill>
                    <a:latin typeface="Calibri"/>
                  </a:rPr>
                  <a:t># points à l'inférence (→ plus parcimonieux)</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B84"/>
                </a:solidFill>
                <a:latin typeface="Calibri"/>
              </a:defRPr>
            </a:pPr>
            <a:endParaRPr lang="en-US"/>
          </a:p>
        </c:txPr>
        <c:crossAx val="2094734552"/>
        <c:crosses val="autoZero"/>
        <c:auto val="1"/>
        <c:lblAlgn val="ctr"/>
        <c:noMultiLvlLbl val="1"/>
      </c:catAx>
      <c:valAx>
        <c:axId val="2094734552"/>
        <c:scaling>
          <c:orientation val="minMax"/>
          <c:max val="0.85"/>
          <c:min val="0.6"/>
        </c:scaling>
        <c:delete val="0"/>
        <c:axPos val="l"/>
        <c:majorGridlines>
          <c:spPr>
            <a:ln w="12700" cap="flat">
              <a:solidFill>
                <a:srgbClr val="E6ECEF"/>
              </a:solidFill>
              <a:prstDash val="solid"/>
              <a:round/>
            </a:ln>
          </c:spPr>
        </c:majorGridlines>
        <c:title>
          <c:tx>
            <c:rich>
              <a:bodyPr/>
              <a:lstStyle/>
              <a:p>
                <a:pPr>
                  <a:defRPr sz="1100" b="0" i="0" u="none" strike="noStrike">
                    <a:solidFill>
                      <a:srgbClr val="6B7B84"/>
                    </a:solidFill>
                    <a:latin typeface="Calibri"/>
                  </a:defRPr>
                </a:pPr>
                <a:r>
                  <a:rPr sz="1100" b="0" i="0" u="none" strike="noStrike">
                    <a:solidFill>
                      <a:srgbClr val="6B7B84"/>
                    </a:solidFill>
                    <a:latin typeface="Calibri"/>
                  </a:rPr>
                  <a:t>ROC-AUC (moyenne 5 seeds)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B84"/>
                </a:solidFill>
                <a:latin typeface="Calibri"/>
              </a:defRPr>
            </a:pPr>
            <a:endParaRPr lang="en-US"/>
          </a:p>
        </c:txPr>
        <c:crossAx val="2094734554"/>
        <c:crosses val="autoZero"/>
        <c:crossBetween val="between"/>
        <c:majorUnit val="0.05"/>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Projet autour des nuages de points en imagerie médicale, focus distillation de connaissances. Sujet imposé: robustesse au sous-échantillonnage pour la classification. Ce deck couvre le projet complet: données, baselines, distillation (5 variantes + teacher robuste), et une analyse critique qui réfute H1.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question porte sur un bénéfice précis de la KD: non pas la précision brute, mais la robustesse quand le nuage de points devient parcimonieux. H1 compare student distillé vs student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NoduleMNIST3D: petit, public, médical. On le transforme en nuages de points. Déséquilibre ~1:4 → on rapporte AUC et balanced-accuracy, pas l'accuracy brute, et on pondère la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de conversion. On échantillonne les voxels pondérés par l'intensité pour concentrer les points sur la structure du nodule. Le protocole de robustesse retire ensuite des points d'un nuage dense fixe.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PointNet pour teacher et student, largeur scalable. Le choix est justifié par la simplicité, l'invariance par permutation, et surtout le max-pool global qui rend l'analyse de robustesse limpide.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protocole de la première moitié a été renforcé: une seule seed ne permettait pas de conclure. 5 seeds, 5 tirages de points par densité, intervalles de confiance et tests appariés. Les hyper-paramètres de KD sont choisis sur la validation, jamais sur le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résultats single-seed de la première moitié étaient trompeurs. Sur 5 seeds teacher et student sont à égalité à pleine densité, et le teacher n'est un peu plus robuste qu'en sparsité extrême.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variantes partagent le même code (src/kd.py). Le point méthodologique central: le témoin aug. Sans lui, impossible de séparer l'effet de la distillation de l'effet de l'augmentation par sous-échantillonnage. T=2, alpha=0.7 choisis sur la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groupes de courbes: les modèles entraînés sur nuages denses en bas, ceux entraînés avec sous-échantillonnage en haut. La KD robuste et le témoin aug sont indiscernables.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résultat central. La différence appariée KD robuste moins aug est nulle à toutes les densités. La robustesse vient de l'augmentation.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Hypothèse testée: le teacher dense n'avait pas de robustesse à transmettre. On l'a donc rendu robuste. Résultat: il reste moins bon que le petit modèle augmenté — 1158 nodules ne suffisent pas à exploiter 0.8M paramètres. La KD ne peut transférer que ce que le teacher sait de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Résultat négatif propre et défendable. Bonus: le sous-échantillonnage régularise aussi à pleine densité (+0.03 AUC). Et un problème pratique mis en évidence: le seuil de décision n'est valable que pour une densité.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Limites en corail, pistes en teal. La piste la plus prometteuse: une KD cross-modale depuis un modèle voxel qui a accès à de l'information que le nuage de points n'a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Résumé: résultat négatif mais rigoureux. La méthodologie (5 seeds, tests appariés, témoin aug) est ce qui permet de l'affirmer.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93A"/>
        </a:solidFill>
      </p:bgPr>
    </p:bg>
    <p:spTree>
      <p:nvGrpSpPr>
        <p:cNvPr id="1" name=""/>
        <p:cNvGrpSpPr/>
        <p:nvPr/>
      </p:nvGrpSpPr>
      <p:grpSpPr>
        <a:xfrm>
          <a:off x="0" y="0"/>
          <a:ext cx="0" cy="0"/>
          <a:chOff x="0" y="0"/>
          <a:chExt cx="0" cy="0"/>
        </a:xfrm>
      </p:grpSpPr>
      <p:sp>
        <p:nvSpPr>
          <p:cNvPr id="2" name="Shape 0"/>
          <p:cNvSpPr/>
          <p:nvPr/>
        </p:nvSpPr>
        <p:spPr>
          <a:xfrm>
            <a:off x="10641918" y="1158334"/>
            <a:ext cx="235029" cy="235029"/>
          </a:xfrm>
          <a:prstGeom prst="ellipse">
            <a:avLst/>
          </a:prstGeom>
          <a:solidFill>
            <a:srgbClr val="2EC4B6">
              <a:alpha val="51919"/>
            </a:srgbClr>
          </a:solidFill>
          <a:ln/>
        </p:spPr>
      </p:sp>
      <p:sp>
        <p:nvSpPr>
          <p:cNvPr id="3" name="Shape 1"/>
          <p:cNvSpPr/>
          <p:nvPr/>
        </p:nvSpPr>
        <p:spPr>
          <a:xfrm>
            <a:off x="9599942" y="443564"/>
            <a:ext cx="193127" cy="193127"/>
          </a:xfrm>
          <a:prstGeom prst="ellipse">
            <a:avLst/>
          </a:prstGeom>
          <a:solidFill>
            <a:srgbClr val="2EC4B6">
              <a:alpha val="31020"/>
            </a:srgbClr>
          </a:solidFill>
          <a:ln/>
        </p:spPr>
      </p:sp>
      <p:sp>
        <p:nvSpPr>
          <p:cNvPr id="4" name="Shape 2"/>
          <p:cNvSpPr/>
          <p:nvPr/>
        </p:nvSpPr>
        <p:spPr>
          <a:xfrm>
            <a:off x="10451162" y="641711"/>
            <a:ext cx="46548" cy="46548"/>
          </a:xfrm>
          <a:prstGeom prst="ellipse">
            <a:avLst/>
          </a:prstGeom>
          <a:solidFill>
            <a:srgbClr val="2EC4B6">
              <a:alpha val="37135"/>
            </a:srgbClr>
          </a:solidFill>
          <a:ln/>
        </p:spPr>
      </p:sp>
      <p:sp>
        <p:nvSpPr>
          <p:cNvPr id="5" name="Shape 3"/>
          <p:cNvSpPr/>
          <p:nvPr/>
        </p:nvSpPr>
        <p:spPr>
          <a:xfrm>
            <a:off x="10145218" y="3034324"/>
            <a:ext cx="239021" cy="239021"/>
          </a:xfrm>
          <a:prstGeom prst="ellipse">
            <a:avLst/>
          </a:prstGeom>
          <a:solidFill>
            <a:srgbClr val="2EC4B6">
              <a:alpha val="36354"/>
            </a:srgbClr>
          </a:solidFill>
          <a:ln/>
        </p:spPr>
      </p:sp>
      <p:sp>
        <p:nvSpPr>
          <p:cNvPr id="6" name="Shape 4"/>
          <p:cNvSpPr/>
          <p:nvPr/>
        </p:nvSpPr>
        <p:spPr>
          <a:xfrm>
            <a:off x="9480822" y="413490"/>
            <a:ext cx="242780" cy="242780"/>
          </a:xfrm>
          <a:prstGeom prst="ellipse">
            <a:avLst/>
          </a:prstGeom>
          <a:solidFill>
            <a:srgbClr val="2EC4B6">
              <a:alpha val="60905"/>
            </a:srgbClr>
          </a:solidFill>
          <a:ln/>
        </p:spPr>
      </p:sp>
      <p:sp>
        <p:nvSpPr>
          <p:cNvPr id="7" name="Shape 5"/>
          <p:cNvSpPr/>
          <p:nvPr/>
        </p:nvSpPr>
        <p:spPr>
          <a:xfrm>
            <a:off x="11239991" y="2224329"/>
            <a:ext cx="172826" cy="172826"/>
          </a:xfrm>
          <a:prstGeom prst="ellipse">
            <a:avLst/>
          </a:prstGeom>
          <a:solidFill>
            <a:srgbClr val="2EC4B6">
              <a:alpha val="58969"/>
            </a:srgbClr>
          </a:solidFill>
          <a:ln/>
        </p:spPr>
      </p:sp>
      <p:sp>
        <p:nvSpPr>
          <p:cNvPr id="8" name="Shape 6"/>
          <p:cNvSpPr/>
          <p:nvPr/>
        </p:nvSpPr>
        <p:spPr>
          <a:xfrm>
            <a:off x="11381565" y="3162940"/>
            <a:ext cx="99069" cy="99069"/>
          </a:xfrm>
          <a:prstGeom prst="ellipse">
            <a:avLst/>
          </a:prstGeom>
          <a:solidFill>
            <a:srgbClr val="2EC4B6">
              <a:alpha val="70253"/>
            </a:srgbClr>
          </a:solidFill>
          <a:ln/>
        </p:spPr>
      </p:sp>
      <p:sp>
        <p:nvSpPr>
          <p:cNvPr id="9" name="Shape 7"/>
          <p:cNvSpPr/>
          <p:nvPr/>
        </p:nvSpPr>
        <p:spPr>
          <a:xfrm>
            <a:off x="9223437" y="2157617"/>
            <a:ext cx="87514" cy="87514"/>
          </a:xfrm>
          <a:prstGeom prst="ellipse">
            <a:avLst/>
          </a:prstGeom>
          <a:solidFill>
            <a:srgbClr val="2EC4B6">
              <a:alpha val="60570"/>
            </a:srgbClr>
          </a:solidFill>
          <a:ln/>
        </p:spPr>
      </p:sp>
      <p:sp>
        <p:nvSpPr>
          <p:cNvPr id="10" name="Shape 8"/>
          <p:cNvSpPr/>
          <p:nvPr/>
        </p:nvSpPr>
        <p:spPr>
          <a:xfrm>
            <a:off x="9863282" y="1083429"/>
            <a:ext cx="60097" cy="60097"/>
          </a:xfrm>
          <a:prstGeom prst="ellipse">
            <a:avLst/>
          </a:prstGeom>
          <a:solidFill>
            <a:srgbClr val="2EC4B6">
              <a:alpha val="63635"/>
            </a:srgbClr>
          </a:solidFill>
          <a:ln/>
        </p:spPr>
      </p:sp>
      <p:sp>
        <p:nvSpPr>
          <p:cNvPr id="11" name="Shape 9"/>
          <p:cNvSpPr/>
          <p:nvPr/>
        </p:nvSpPr>
        <p:spPr>
          <a:xfrm>
            <a:off x="11205041" y="387070"/>
            <a:ext cx="132149" cy="132149"/>
          </a:xfrm>
          <a:prstGeom prst="ellipse">
            <a:avLst/>
          </a:prstGeom>
          <a:solidFill>
            <a:srgbClr val="2EC4B6">
              <a:alpha val="65131"/>
            </a:srgbClr>
          </a:solidFill>
          <a:ln/>
        </p:spPr>
      </p:sp>
      <p:sp>
        <p:nvSpPr>
          <p:cNvPr id="12" name="Shape 10"/>
          <p:cNvSpPr/>
          <p:nvPr/>
        </p:nvSpPr>
        <p:spPr>
          <a:xfrm>
            <a:off x="9656260" y="1866623"/>
            <a:ext cx="219099" cy="219099"/>
          </a:xfrm>
          <a:prstGeom prst="ellipse">
            <a:avLst/>
          </a:prstGeom>
          <a:solidFill>
            <a:srgbClr val="2EC4B6">
              <a:alpha val="32243"/>
            </a:srgbClr>
          </a:solidFill>
          <a:ln/>
        </p:spPr>
      </p:sp>
      <p:sp>
        <p:nvSpPr>
          <p:cNvPr id="13" name="Shape 11"/>
          <p:cNvSpPr/>
          <p:nvPr/>
        </p:nvSpPr>
        <p:spPr>
          <a:xfrm>
            <a:off x="11317229" y="1070092"/>
            <a:ext cx="112376" cy="112376"/>
          </a:xfrm>
          <a:prstGeom prst="ellipse">
            <a:avLst/>
          </a:prstGeom>
          <a:solidFill>
            <a:srgbClr val="2EC4B6">
              <a:alpha val="75420"/>
            </a:srgbClr>
          </a:solidFill>
          <a:ln/>
        </p:spPr>
      </p:sp>
      <p:sp>
        <p:nvSpPr>
          <p:cNvPr id="14" name="Shape 12"/>
          <p:cNvSpPr/>
          <p:nvPr/>
        </p:nvSpPr>
        <p:spPr>
          <a:xfrm>
            <a:off x="9411712" y="925426"/>
            <a:ext cx="169393" cy="169393"/>
          </a:xfrm>
          <a:prstGeom prst="ellipse">
            <a:avLst/>
          </a:prstGeom>
          <a:solidFill>
            <a:srgbClr val="2EC4B6">
              <a:alpha val="45362"/>
            </a:srgbClr>
          </a:solidFill>
          <a:ln/>
        </p:spPr>
      </p:sp>
      <p:sp>
        <p:nvSpPr>
          <p:cNvPr id="15" name="Shape 13"/>
          <p:cNvSpPr/>
          <p:nvPr/>
        </p:nvSpPr>
        <p:spPr>
          <a:xfrm>
            <a:off x="11638491" y="2157570"/>
            <a:ext cx="272877" cy="272877"/>
          </a:xfrm>
          <a:prstGeom prst="ellipse">
            <a:avLst/>
          </a:prstGeom>
          <a:solidFill>
            <a:srgbClr val="2EC4B6">
              <a:alpha val="47988"/>
            </a:srgbClr>
          </a:solidFill>
          <a:ln/>
        </p:spPr>
      </p:sp>
      <p:sp>
        <p:nvSpPr>
          <p:cNvPr id="16" name="Shape 14"/>
          <p:cNvSpPr/>
          <p:nvPr/>
        </p:nvSpPr>
        <p:spPr>
          <a:xfrm>
            <a:off x="11588852" y="1970146"/>
            <a:ext cx="272072" cy="272072"/>
          </a:xfrm>
          <a:prstGeom prst="ellipse">
            <a:avLst/>
          </a:prstGeom>
          <a:solidFill>
            <a:srgbClr val="2EC4B6">
              <a:alpha val="66734"/>
            </a:srgbClr>
          </a:solidFill>
          <a:ln/>
        </p:spPr>
      </p:sp>
      <p:sp>
        <p:nvSpPr>
          <p:cNvPr id="17" name="Shape 15"/>
          <p:cNvSpPr/>
          <p:nvPr/>
        </p:nvSpPr>
        <p:spPr>
          <a:xfrm>
            <a:off x="10693168" y="675053"/>
            <a:ext cx="139226" cy="139226"/>
          </a:xfrm>
          <a:prstGeom prst="ellipse">
            <a:avLst/>
          </a:prstGeom>
          <a:solidFill>
            <a:srgbClr val="2EC4B6">
              <a:alpha val="59373"/>
            </a:srgbClr>
          </a:solidFill>
          <a:ln/>
        </p:spPr>
      </p:sp>
      <p:sp>
        <p:nvSpPr>
          <p:cNvPr id="18" name="Shape 16"/>
          <p:cNvSpPr/>
          <p:nvPr/>
        </p:nvSpPr>
        <p:spPr>
          <a:xfrm>
            <a:off x="9721074" y="2829744"/>
            <a:ext cx="94223" cy="94223"/>
          </a:xfrm>
          <a:prstGeom prst="ellipse">
            <a:avLst/>
          </a:prstGeom>
          <a:solidFill>
            <a:srgbClr val="2EC4B6">
              <a:alpha val="74979"/>
            </a:srgbClr>
          </a:solidFill>
          <a:ln/>
        </p:spPr>
      </p:sp>
      <p:sp>
        <p:nvSpPr>
          <p:cNvPr id="19" name="Shape 17"/>
          <p:cNvSpPr/>
          <p:nvPr/>
        </p:nvSpPr>
        <p:spPr>
          <a:xfrm>
            <a:off x="9997211" y="1536875"/>
            <a:ext cx="193168" cy="193168"/>
          </a:xfrm>
          <a:prstGeom prst="ellipse">
            <a:avLst/>
          </a:prstGeom>
          <a:solidFill>
            <a:srgbClr val="2EC4B6">
              <a:alpha val="45037"/>
            </a:srgbClr>
          </a:solidFill>
          <a:ln/>
        </p:spPr>
      </p:sp>
      <p:sp>
        <p:nvSpPr>
          <p:cNvPr id="20" name="Shape 18"/>
          <p:cNvSpPr/>
          <p:nvPr/>
        </p:nvSpPr>
        <p:spPr>
          <a:xfrm>
            <a:off x="9793709" y="2820872"/>
            <a:ext cx="138966" cy="138966"/>
          </a:xfrm>
          <a:prstGeom prst="ellipse">
            <a:avLst/>
          </a:prstGeom>
          <a:solidFill>
            <a:srgbClr val="2EC4B6">
              <a:alpha val="66687"/>
            </a:srgbClr>
          </a:solidFill>
          <a:ln/>
        </p:spPr>
      </p:sp>
      <p:sp>
        <p:nvSpPr>
          <p:cNvPr id="21" name="Shape 19"/>
          <p:cNvSpPr/>
          <p:nvPr/>
        </p:nvSpPr>
        <p:spPr>
          <a:xfrm>
            <a:off x="10017588" y="796250"/>
            <a:ext cx="187518" cy="187518"/>
          </a:xfrm>
          <a:prstGeom prst="ellipse">
            <a:avLst/>
          </a:prstGeom>
          <a:solidFill>
            <a:srgbClr val="2EC4B6">
              <a:alpha val="50786"/>
            </a:srgbClr>
          </a:solidFill>
          <a:ln/>
        </p:spPr>
      </p:sp>
      <p:sp>
        <p:nvSpPr>
          <p:cNvPr id="22" name="Shape 20"/>
          <p:cNvSpPr/>
          <p:nvPr/>
        </p:nvSpPr>
        <p:spPr>
          <a:xfrm>
            <a:off x="10362818" y="613637"/>
            <a:ext cx="270367" cy="270367"/>
          </a:xfrm>
          <a:prstGeom prst="ellipse">
            <a:avLst/>
          </a:prstGeom>
          <a:solidFill>
            <a:srgbClr val="2EC4B6">
              <a:alpha val="34480"/>
            </a:srgbClr>
          </a:solidFill>
          <a:ln/>
        </p:spPr>
      </p:sp>
      <p:sp>
        <p:nvSpPr>
          <p:cNvPr id="23" name="Shape 21"/>
          <p:cNvSpPr/>
          <p:nvPr/>
        </p:nvSpPr>
        <p:spPr>
          <a:xfrm>
            <a:off x="9683550" y="2524062"/>
            <a:ext cx="140865" cy="140865"/>
          </a:xfrm>
          <a:prstGeom prst="ellipse">
            <a:avLst/>
          </a:prstGeom>
          <a:solidFill>
            <a:srgbClr val="2EC4B6">
              <a:alpha val="49151"/>
            </a:srgbClr>
          </a:solidFill>
          <a:ln/>
        </p:spPr>
      </p:sp>
      <p:sp>
        <p:nvSpPr>
          <p:cNvPr id="24" name="Shape 22"/>
          <p:cNvSpPr/>
          <p:nvPr/>
        </p:nvSpPr>
        <p:spPr>
          <a:xfrm>
            <a:off x="9435596" y="912378"/>
            <a:ext cx="231122" cy="231122"/>
          </a:xfrm>
          <a:prstGeom prst="ellipse">
            <a:avLst/>
          </a:prstGeom>
          <a:solidFill>
            <a:srgbClr val="2EC4B6">
              <a:alpha val="62631"/>
            </a:srgbClr>
          </a:solidFill>
          <a:ln/>
        </p:spPr>
      </p:sp>
      <p:sp>
        <p:nvSpPr>
          <p:cNvPr id="25" name="Shape 23"/>
          <p:cNvSpPr/>
          <p:nvPr/>
        </p:nvSpPr>
        <p:spPr>
          <a:xfrm>
            <a:off x="11287927" y="1693134"/>
            <a:ext cx="142972" cy="142972"/>
          </a:xfrm>
          <a:prstGeom prst="ellipse">
            <a:avLst/>
          </a:prstGeom>
          <a:solidFill>
            <a:srgbClr val="2EC4B6">
              <a:alpha val="59854"/>
            </a:srgbClr>
          </a:solidFill>
          <a:ln/>
        </p:spPr>
      </p:sp>
      <p:sp>
        <p:nvSpPr>
          <p:cNvPr id="26" name="Shape 24"/>
          <p:cNvSpPr/>
          <p:nvPr/>
        </p:nvSpPr>
        <p:spPr>
          <a:xfrm>
            <a:off x="9666909" y="2562924"/>
            <a:ext cx="272788" cy="272788"/>
          </a:xfrm>
          <a:prstGeom prst="ellipse">
            <a:avLst/>
          </a:prstGeom>
          <a:solidFill>
            <a:srgbClr val="2EC4B6">
              <a:alpha val="32844"/>
            </a:srgbClr>
          </a:solidFill>
          <a:ln/>
        </p:spPr>
      </p:sp>
      <p:sp>
        <p:nvSpPr>
          <p:cNvPr id="27" name="Shape 25"/>
          <p:cNvSpPr/>
          <p:nvPr/>
        </p:nvSpPr>
        <p:spPr>
          <a:xfrm>
            <a:off x="9678168" y="586794"/>
            <a:ext cx="205864" cy="205864"/>
          </a:xfrm>
          <a:prstGeom prst="ellipse">
            <a:avLst/>
          </a:prstGeom>
          <a:solidFill>
            <a:srgbClr val="2EC4B6">
              <a:alpha val="44886"/>
            </a:srgbClr>
          </a:solidFill>
          <a:ln/>
        </p:spPr>
      </p:sp>
      <p:sp>
        <p:nvSpPr>
          <p:cNvPr id="28" name="Text 26"/>
          <p:cNvSpPr txBox="1"/>
          <p:nvPr/>
        </p:nvSpPr>
        <p:spPr>
          <a:xfrm>
            <a:off x="640080" y="1234440"/>
            <a:ext cx="7315200" cy="365760"/>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Projet complet — résultats finaux</a:t>
            </a:r>
            <a:endParaRPr lang="en-US" sz="1400" dirty="0"/>
          </a:p>
        </p:txBody>
      </p:sp>
      <p:sp>
        <p:nvSpPr>
          <p:cNvPr id="29" name="Text 27"/>
          <p:cNvSpPr txBox="1"/>
          <p:nvPr/>
        </p:nvSpPr>
        <p:spPr>
          <a:xfrm>
            <a:off x="640080" y="1691640"/>
            <a:ext cx="10424160" cy="1828800"/>
          </a:xfrm>
          <a:prstGeom prst="rect">
            <a:avLst/>
          </a:prstGeom>
          <a:noFill/>
          <a:ln/>
        </p:spPr>
        <p:txBody>
          <a:bodyPr wrap="square" lIns="0" tIns="0" rIns="0" bIns="0" rtlCol="0" anchor="ctr"/>
          <a:lstStyle/>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Distillation de connaissances &amp;</a:t>
            </a:r>
            <a:endParaRPr lang="en-US" sz="4000" dirty="0"/>
          </a:p>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robustesse au sous-échantillonnage</a:t>
            </a:r>
            <a:endParaRPr lang="en-US" sz="4000" dirty="0"/>
          </a:p>
        </p:txBody>
      </p:sp>
      <p:sp>
        <p:nvSpPr>
          <p:cNvPr id="30" name="Text 28"/>
          <p:cNvSpPr txBox="1"/>
          <p:nvPr/>
        </p:nvSpPr>
        <p:spPr>
          <a:xfrm>
            <a:off x="640080" y="3657600"/>
            <a:ext cx="10058400" cy="640080"/>
          </a:xfrm>
          <a:prstGeom prst="rect">
            <a:avLst/>
          </a:prstGeom>
          <a:noFill/>
          <a:ln/>
        </p:spPr>
        <p:txBody>
          <a:bodyPr wrap="square" lIns="0" tIns="0" rIns="0" bIns="0" rtlCol="0" anchor="ctr"/>
          <a:lstStyle/>
          <a:p>
            <a:pPr indent="0" marL="0">
              <a:buNone/>
            </a:pPr>
            <a:r>
              <a:rPr lang="en-US" sz="1800" dirty="0">
                <a:solidFill>
                  <a:srgbClr val="CFE2E6"/>
                </a:solidFill>
                <a:latin typeface="Calibri" pitchFamily="34" charset="0"/>
                <a:ea typeface="Calibri" pitchFamily="34" charset="-122"/>
                <a:cs typeface="Calibri" pitchFamily="34" charset="-120"/>
              </a:rPr>
              <a:t>Nuages de points appliqués à l'imagerie médicale — classification de nodules (NoduleMNIST3D)</a:t>
            </a:r>
            <a:endParaRPr lang="en-US" sz="1800" dirty="0"/>
          </a:p>
        </p:txBody>
      </p:sp>
      <p:sp>
        <p:nvSpPr>
          <p:cNvPr id="31" name="Text 29"/>
          <p:cNvSpPr txBox="1"/>
          <p:nvPr/>
        </p:nvSpPr>
        <p:spPr>
          <a:xfrm>
            <a:off x="640080" y="4663440"/>
            <a:ext cx="10058400" cy="457200"/>
          </a:xfrm>
          <a:prstGeom prst="rect">
            <a:avLst/>
          </a:prstGeom>
          <a:noFill/>
          <a:ln/>
        </p:spPr>
        <p:txBody>
          <a:bodyPr wrap="square" lIns="0" tIns="0" rIns="0" bIns="0" rtlCol="0" anchor="ctr"/>
          <a:lstStyle/>
          <a:p>
            <a:pPr indent="0" marL="0">
              <a:buNone/>
            </a:pPr>
            <a:r>
              <a:rPr lang="en-US" sz="1400" dirty="0">
                <a:solidFill>
                  <a:srgbClr val="9FC2C8"/>
                </a:solidFill>
                <a:latin typeface="Calibri" pitchFamily="34" charset="0"/>
                <a:ea typeface="Calibri" pitchFamily="34" charset="-122"/>
                <a:cs typeface="Calibri" pitchFamily="34" charset="-120"/>
              </a:rPr>
              <a:t>PointNet (teacher / student)  ·  Knowledge Distillation  ·  5 seeds · tests appariés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Question de recherche</a:t>
            </a:r>
            <a:endParaRPr lang="en-US" sz="3200" dirty="0"/>
          </a:p>
        </p:txBody>
      </p:sp>
      <p:sp>
        <p:nvSpPr>
          <p:cNvPr id="3" name="Shape 1"/>
          <p:cNvSpPr/>
          <p:nvPr/>
        </p:nvSpPr>
        <p:spPr>
          <a:xfrm>
            <a:off x="548640" y="1463040"/>
            <a:ext cx="11064240" cy="1691640"/>
          </a:xfrm>
          <a:prstGeom prst="roundRect">
            <a:avLst>
              <a:gd name="adj" fmla="val 4865"/>
            </a:avLst>
          </a:prstGeom>
          <a:solidFill>
            <a:srgbClr val="EAF3F3"/>
          </a:solidFill>
          <a:ln/>
          <a:effectLst>
            <a:outerShdw sx="100000" sy="100000" kx="0" ky="0" algn="bl" rotWithShape="0" blurRad="88900" dist="25400" dir="5400000">
              <a:srgbClr val="9AAEB5">
                <a:alpha val="35000"/>
              </a:srgbClr>
            </a:outerShdw>
          </a:effectLst>
        </p:spPr>
      </p:sp>
      <p:sp>
        <p:nvSpPr>
          <p:cNvPr id="4" name="Text 2"/>
          <p:cNvSpPr txBox="1"/>
          <p:nvPr/>
        </p:nvSpPr>
        <p:spPr>
          <a:xfrm>
            <a:off x="868680" y="1783080"/>
            <a:ext cx="914400" cy="914400"/>
          </a:xfrm>
          <a:prstGeom prst="ellipse">
            <a:avLst/>
          </a:prstGeom>
          <a:solidFill>
            <a:srgbClr val="1C7293"/>
          </a:solid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Q</a:t>
            </a:r>
            <a:endParaRPr lang="en-US" sz="3000" dirty="0"/>
          </a:p>
        </p:txBody>
      </p:sp>
      <p:sp>
        <p:nvSpPr>
          <p:cNvPr id="5" name="Text 3"/>
          <p:cNvSpPr txBox="1"/>
          <p:nvPr/>
        </p:nvSpPr>
        <p:spPr>
          <a:xfrm>
            <a:off x="2057400" y="1572768"/>
            <a:ext cx="9235440" cy="1463040"/>
          </a:xfrm>
          <a:prstGeom prst="rect">
            <a:avLst/>
          </a:prstGeom>
          <a:noFill/>
          <a:ln/>
        </p:spPr>
        <p:txBody>
          <a:bodyPr wrap="square" lIns="0" tIns="0" rIns="0" bIns="0" rtlCol="0" anchor="ctr"/>
          <a:lstStyle/>
          <a:p>
            <a:pPr indent="0" marL="0">
              <a:lnSpc>
                <a:spcPct val="108000"/>
              </a:lnSpc>
              <a:buNone/>
            </a:pPr>
            <a:r>
              <a:rPr lang="en-US" sz="2000" dirty="0">
                <a:solidFill>
                  <a:srgbClr val="16323D"/>
                </a:solidFill>
                <a:latin typeface="Calibri" pitchFamily="34" charset="0"/>
                <a:ea typeface="Calibri" pitchFamily="34" charset="-122"/>
                <a:cs typeface="Calibri" pitchFamily="34" charset="-120"/>
              </a:rPr>
              <a:t>La distillation d'un teacher entraîné sur des nuages </a:t>
            </a:r>
            <a:pPr indent="0" marL="0">
              <a:lnSpc>
                <a:spcPct val="108000"/>
              </a:lnSpc>
              <a:buNone/>
            </a:pPr>
            <a:r>
              <a:rPr lang="en-US" sz="2000" b="1" dirty="0">
                <a:solidFill>
                  <a:srgbClr val="1C7293"/>
                </a:solidFill>
                <a:latin typeface="Calibri" pitchFamily="34" charset="0"/>
                <a:ea typeface="Calibri" pitchFamily="34" charset="-122"/>
                <a:cs typeface="Calibri" pitchFamily="34" charset="-120"/>
              </a:rPr>
              <a:t>denses</a:t>
            </a:r>
            <a:pPr indent="0" marL="0">
              <a:lnSpc>
                <a:spcPct val="108000"/>
              </a:lnSpc>
              <a:buNone/>
            </a:pPr>
            <a:r>
              <a:rPr lang="en-US" sz="2000" dirty="0">
                <a:solidFill>
                  <a:srgbClr val="16323D"/>
                </a:solidFill>
                <a:latin typeface="Calibri" pitchFamily="34" charset="0"/>
                <a:ea typeface="Calibri" pitchFamily="34" charset="-122"/>
                <a:cs typeface="Calibri" pitchFamily="34" charset="-120"/>
              </a:rPr>
              <a:t> permet-elle à un student léger d'être plus </a:t>
            </a:r>
            <a:pPr indent="0" marL="0">
              <a:lnSpc>
                <a:spcPct val="108000"/>
              </a:lnSpc>
              <a:buNone/>
            </a:pPr>
            <a:r>
              <a:rPr lang="en-US" sz="2000" b="1" dirty="0">
                <a:solidFill>
                  <a:srgbClr val="1C7293"/>
                </a:solidFill>
                <a:latin typeface="Calibri" pitchFamily="34" charset="0"/>
                <a:ea typeface="Calibri" pitchFamily="34" charset="-122"/>
                <a:cs typeface="Calibri" pitchFamily="34" charset="-120"/>
              </a:rPr>
              <a:t>robuste au sous-échantillonnage</a:t>
            </a:r>
            <a:pPr indent="0" marL="0">
              <a:lnSpc>
                <a:spcPct val="108000"/>
              </a:lnSpc>
              <a:buNone/>
            </a:pPr>
            <a:r>
              <a:rPr lang="en-US" sz="2000" dirty="0">
                <a:solidFill>
                  <a:srgbClr val="16323D"/>
                </a:solidFill>
                <a:latin typeface="Calibri" pitchFamily="34" charset="0"/>
                <a:ea typeface="Calibri" pitchFamily="34" charset="-122"/>
                <a:cs typeface="Calibri" pitchFamily="34" charset="-120"/>
              </a:rPr>
              <a:t> des points à l'inférence, pour la classification de nodules pulmonaires ?</a:t>
            </a:r>
            <a:endParaRPr lang="en-US" sz="2000" dirty="0"/>
          </a:p>
        </p:txBody>
      </p:sp>
      <p:sp>
        <p:nvSpPr>
          <p:cNvPr id="6" name="Shape 4"/>
          <p:cNvSpPr/>
          <p:nvPr/>
        </p:nvSpPr>
        <p:spPr>
          <a:xfrm>
            <a:off x="548640" y="3429000"/>
            <a:ext cx="11064240" cy="1554480"/>
          </a:xfrm>
          <a:prstGeom prst="roundRect">
            <a:avLst>
              <a:gd name="adj" fmla="val 5294"/>
            </a:avLst>
          </a:prstGeom>
          <a:solidFill>
            <a:srgbClr val="F2F6F7"/>
          </a:solidFill>
          <a:ln/>
          <a:effectLst>
            <a:outerShdw sx="100000" sy="100000" kx="0" ky="0" algn="bl" rotWithShape="0" blurRad="88900" dist="25400" dir="5400000">
              <a:srgbClr val="9AAEB5">
                <a:alpha val="35000"/>
              </a:srgbClr>
            </a:outerShdw>
          </a:effectLst>
        </p:spPr>
      </p:sp>
      <p:sp>
        <p:nvSpPr>
          <p:cNvPr id="7" name="Text 5"/>
          <p:cNvSpPr txBox="1"/>
          <p:nvPr/>
        </p:nvSpPr>
        <p:spPr>
          <a:xfrm>
            <a:off x="868680" y="3703320"/>
            <a:ext cx="914400" cy="914400"/>
          </a:xfrm>
          <a:prstGeom prst="ellipse">
            <a:avLst/>
          </a:prstGeom>
          <a:solidFill>
            <a:srgbClr val="E76F51"/>
          </a:solid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H1</a:t>
            </a:r>
            <a:endParaRPr lang="en-US" sz="2600" dirty="0"/>
          </a:p>
        </p:txBody>
      </p:sp>
      <p:sp>
        <p:nvSpPr>
          <p:cNvPr id="8" name="Text 6"/>
          <p:cNvSpPr txBox="1"/>
          <p:nvPr/>
        </p:nvSpPr>
        <p:spPr>
          <a:xfrm>
            <a:off x="2057400" y="3538728"/>
            <a:ext cx="9235440" cy="1335024"/>
          </a:xfrm>
          <a:prstGeom prst="rect">
            <a:avLst/>
          </a:prstGeom>
          <a:noFill/>
          <a:ln/>
        </p:spPr>
        <p:txBody>
          <a:bodyPr wrap="square" lIns="0" tIns="0" rIns="0" bIns="0" rtlCol="0" anchor="ctr"/>
          <a:lstStyle/>
          <a:p>
            <a:pPr indent="0" marL="0">
              <a:lnSpc>
                <a:spcPct val="108000"/>
              </a:lnSpc>
              <a:buNone/>
            </a:pPr>
            <a:r>
              <a:rPr lang="en-US" sz="1800" b="1" dirty="0">
                <a:solidFill>
                  <a:srgbClr val="E76F51"/>
                </a:solidFill>
                <a:latin typeface="Calibri" pitchFamily="34" charset="0"/>
                <a:ea typeface="Calibri" pitchFamily="34" charset="-122"/>
                <a:cs typeface="Calibri" pitchFamily="34" charset="-120"/>
              </a:rPr>
              <a:t>Hypothèse.  </a:t>
            </a:r>
            <a:pPr indent="0" marL="0">
              <a:lnSpc>
                <a:spcPct val="108000"/>
              </a:lnSpc>
              <a:buNone/>
            </a:pPr>
            <a:r>
              <a:rPr lang="en-US" sz="1800" dirty="0">
                <a:solidFill>
                  <a:srgbClr val="16323D"/>
                </a:solidFill>
                <a:latin typeface="Calibri" pitchFamily="34" charset="0"/>
                <a:ea typeface="Calibri" pitchFamily="34" charset="-122"/>
                <a:cs typeface="Calibri" pitchFamily="34" charset="-120"/>
              </a:rPr>
              <a:t>Un student </a:t>
            </a:r>
            <a:pPr indent="0" marL="0">
              <a:lnSpc>
                <a:spcPct val="108000"/>
              </a:lnSpc>
              <a:buNone/>
            </a:pPr>
            <a:r>
              <a:rPr lang="en-US" sz="1800" b="1" dirty="0">
                <a:solidFill>
                  <a:srgbClr val="16323D"/>
                </a:solidFill>
                <a:latin typeface="Calibri" pitchFamily="34" charset="0"/>
                <a:ea typeface="Calibri" pitchFamily="34" charset="-122"/>
                <a:cs typeface="Calibri" pitchFamily="34" charset="-120"/>
              </a:rPr>
              <a:t>distillé</a:t>
            </a:r>
            <a:pPr indent="0" marL="0">
              <a:lnSpc>
                <a:spcPct val="108000"/>
              </a:lnSpc>
              <a:buNone/>
            </a:pPr>
            <a:r>
              <a:rPr lang="en-US" sz="1800" dirty="0">
                <a:solidFill>
                  <a:srgbClr val="16323D"/>
                </a:solidFill>
                <a:latin typeface="Calibri" pitchFamily="34" charset="0"/>
                <a:ea typeface="Calibri" pitchFamily="34" charset="-122"/>
                <a:cs typeface="Calibri" pitchFamily="34" charset="-120"/>
              </a:rPr>
              <a:t> se dégrade plus gracieusement quand on retire des points en test qu'un student entraîné </a:t>
            </a:r>
            <a:pPr indent="0" marL="0">
              <a:lnSpc>
                <a:spcPct val="108000"/>
              </a:lnSpc>
              <a:buNone/>
            </a:pPr>
            <a:r>
              <a:rPr lang="en-US" sz="1800" i="1" dirty="0">
                <a:solidFill>
                  <a:srgbClr val="16323D"/>
                </a:solidFill>
                <a:latin typeface="Calibri" pitchFamily="34" charset="0"/>
                <a:ea typeface="Calibri" pitchFamily="34" charset="-122"/>
                <a:cs typeface="Calibri" pitchFamily="34" charset="-120"/>
              </a:rPr>
              <a:t>from scratch</a:t>
            </a:r>
            <a:pPr indent="0" marL="0">
              <a:lnSpc>
                <a:spcPct val="108000"/>
              </a:lnSpc>
              <a:buNone/>
            </a:pPr>
            <a:r>
              <a:rPr lang="en-US" sz="1800" dirty="0">
                <a:solidFill>
                  <a:srgbClr val="16323D"/>
                </a:solidFill>
                <a:latin typeface="Calibri" pitchFamily="34" charset="0"/>
                <a:ea typeface="Calibri" pitchFamily="34" charset="-122"/>
                <a:cs typeface="Calibri" pitchFamily="34" charset="-120"/>
              </a:rPr>
              <a:t> (cross-entropy seule), à capacité égale.</a:t>
            </a:r>
            <a:endParaRPr lang="en-US" sz="1800" dirty="0"/>
          </a:p>
        </p:txBody>
      </p:sp>
      <p:sp>
        <p:nvSpPr>
          <p:cNvPr id="9" name="Text 7"/>
          <p:cNvSpPr txBox="1"/>
          <p:nvPr/>
        </p:nvSpPr>
        <p:spPr>
          <a:xfrm>
            <a:off x="548640" y="5212080"/>
            <a:ext cx="11064240" cy="365760"/>
          </a:xfrm>
          <a:prstGeom prst="rect">
            <a:avLst/>
          </a:prstGeom>
          <a:noFill/>
          <a:ln/>
        </p:spPr>
        <p:txBody>
          <a:bodyPr wrap="square" lIns="0" tIns="0" rIns="0" bIns="0" rtlCol="0" anchor="ctr"/>
          <a:lstStyle/>
          <a:p>
            <a:pPr indent="0" marL="0">
              <a:buNone/>
            </a:pPr>
            <a:r>
              <a:rPr lang="en-US" sz="1300" i="1" dirty="0">
                <a:solidFill>
                  <a:srgbClr val="6B7B84"/>
                </a:solidFill>
                <a:latin typeface="Calibri" pitchFamily="34" charset="0"/>
                <a:ea typeface="Calibri" pitchFamily="34" charset="-122"/>
                <a:cs typeface="Calibri" pitchFamily="34" charset="-120"/>
              </a:rPr>
              <a:t>Condition imposée : données médicales · dataset &amp; architectures libres (à justifier).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Données — NoduleMNIST3D (MedMNIST v2)</a:t>
            </a:r>
            <a:endParaRPr lang="en-US" sz="3200" dirty="0"/>
          </a:p>
        </p:txBody>
      </p:sp>
      <p:sp>
        <p:nvSpPr>
          <p:cNvPr id="3" name="Shape 1"/>
          <p:cNvSpPr/>
          <p:nvPr/>
        </p:nvSpPr>
        <p:spPr>
          <a:xfrm>
            <a:off x="548640" y="1508760"/>
            <a:ext cx="2697480" cy="1371600"/>
          </a:xfrm>
          <a:prstGeom prst="roundRect">
            <a:avLst>
              <a:gd name="adj" fmla="val 6000"/>
            </a:avLst>
          </a:prstGeom>
          <a:solidFill>
            <a:srgbClr val="EAF3F3"/>
          </a:solidFill>
          <a:ln/>
          <a:effectLst>
            <a:outerShdw sx="100000" sy="100000" kx="0" ky="0" algn="bl" rotWithShape="0" blurRad="88900" dist="25400" dir="5400000">
              <a:srgbClr val="9AAEB5">
                <a:alpha val="35000"/>
              </a:srgbClr>
            </a:outerShdw>
          </a:effectLst>
        </p:spPr>
      </p:sp>
      <p:sp>
        <p:nvSpPr>
          <p:cNvPr id="4" name="Text 2"/>
          <p:cNvSpPr txBox="1"/>
          <p:nvPr/>
        </p:nvSpPr>
        <p:spPr>
          <a:xfrm>
            <a:off x="548640" y="1645920"/>
            <a:ext cx="2697480" cy="731520"/>
          </a:xfrm>
          <a:prstGeom prst="rect">
            <a:avLst/>
          </a:prstGeom>
          <a:noFill/>
          <a:ln/>
        </p:spPr>
        <p:txBody>
          <a:bodyPr wrap="square" lIns="0" tIns="0" rIns="0" bIns="0" rtlCol="0" anchor="ctr"/>
          <a:lstStyle/>
          <a:p>
            <a:pPr algn="ctr" indent="0" marL="0">
              <a:buNone/>
            </a:pPr>
            <a:r>
              <a:rPr lang="en-US" sz="3400" b="1" dirty="0">
                <a:solidFill>
                  <a:srgbClr val="1C7293"/>
                </a:solidFill>
                <a:latin typeface="Cambria" pitchFamily="34" charset="0"/>
                <a:ea typeface="Cambria" pitchFamily="34" charset="-122"/>
                <a:cs typeface="Cambria" pitchFamily="34" charset="-120"/>
              </a:rPr>
              <a:t>1 633</a:t>
            </a:r>
            <a:endParaRPr lang="en-US" sz="3400" dirty="0"/>
          </a:p>
        </p:txBody>
      </p:sp>
      <p:sp>
        <p:nvSpPr>
          <p:cNvPr id="5" name="Text 3"/>
          <p:cNvSpPr txBox="1"/>
          <p:nvPr/>
        </p:nvSpPr>
        <p:spPr>
          <a:xfrm>
            <a:off x="685800" y="2377440"/>
            <a:ext cx="2423160" cy="457200"/>
          </a:xfrm>
          <a:prstGeom prst="rect">
            <a:avLst/>
          </a:prstGeom>
          <a:noFill/>
          <a:ln/>
        </p:spPr>
        <p:txBody>
          <a:bodyPr wrap="square" lIns="0" tIns="0" rIns="0" bIns="0" rtlCol="0" anchor="ctr"/>
          <a:lstStyle/>
          <a:p>
            <a:pPr algn="ctr" indent="0" marL="0">
              <a:buNone/>
            </a:pPr>
            <a:r>
              <a:rPr lang="en-US" sz="1250" dirty="0">
                <a:solidFill>
                  <a:srgbClr val="6B7B84"/>
                </a:solidFill>
                <a:latin typeface="Calibri" pitchFamily="34" charset="0"/>
                <a:ea typeface="Calibri" pitchFamily="34" charset="-122"/>
                <a:cs typeface="Calibri" pitchFamily="34" charset="-120"/>
              </a:rPr>
              <a:t>volumes CT (1158/165/310)</a:t>
            </a:r>
            <a:endParaRPr lang="en-US" sz="1250" dirty="0"/>
          </a:p>
        </p:txBody>
      </p:sp>
      <p:sp>
        <p:nvSpPr>
          <p:cNvPr id="6" name="Shape 4"/>
          <p:cNvSpPr/>
          <p:nvPr/>
        </p:nvSpPr>
        <p:spPr>
          <a:xfrm>
            <a:off x="3410712" y="1508760"/>
            <a:ext cx="2697480" cy="1371600"/>
          </a:xfrm>
          <a:prstGeom prst="roundRect">
            <a:avLst>
              <a:gd name="adj" fmla="val 6000"/>
            </a:avLst>
          </a:prstGeom>
          <a:solidFill>
            <a:srgbClr val="F2F6F7"/>
          </a:solidFill>
          <a:ln/>
          <a:effectLst>
            <a:outerShdw sx="100000" sy="100000" kx="0" ky="0" algn="bl" rotWithShape="0" blurRad="88900" dist="25400" dir="5400000">
              <a:srgbClr val="9AAEB5">
                <a:alpha val="35000"/>
              </a:srgbClr>
            </a:outerShdw>
          </a:effectLst>
        </p:spPr>
      </p:sp>
      <p:sp>
        <p:nvSpPr>
          <p:cNvPr id="7" name="Text 5"/>
          <p:cNvSpPr txBox="1"/>
          <p:nvPr/>
        </p:nvSpPr>
        <p:spPr>
          <a:xfrm>
            <a:off x="3410712" y="1645920"/>
            <a:ext cx="2697480" cy="731520"/>
          </a:xfrm>
          <a:prstGeom prst="rect">
            <a:avLst/>
          </a:prstGeom>
          <a:noFill/>
          <a:ln/>
        </p:spPr>
        <p:txBody>
          <a:bodyPr wrap="square" lIns="0" tIns="0" rIns="0" bIns="0" rtlCol="0" anchor="ctr"/>
          <a:lstStyle/>
          <a:p>
            <a:pPr algn="ctr" indent="0" marL="0">
              <a:buNone/>
            </a:pPr>
            <a:r>
              <a:rPr lang="en-US" sz="3400" b="1" dirty="0">
                <a:solidFill>
                  <a:srgbClr val="E76F51"/>
                </a:solidFill>
                <a:latin typeface="Cambria" pitchFamily="34" charset="0"/>
                <a:ea typeface="Cambria" pitchFamily="34" charset="-122"/>
                <a:cs typeface="Cambria" pitchFamily="34" charset="-120"/>
              </a:rPr>
              <a:t>28³</a:t>
            </a:r>
            <a:endParaRPr lang="en-US" sz="3400" dirty="0"/>
          </a:p>
        </p:txBody>
      </p:sp>
      <p:sp>
        <p:nvSpPr>
          <p:cNvPr id="8" name="Text 6"/>
          <p:cNvSpPr txBox="1"/>
          <p:nvPr/>
        </p:nvSpPr>
        <p:spPr>
          <a:xfrm>
            <a:off x="3547872" y="2377440"/>
            <a:ext cx="2423160" cy="457200"/>
          </a:xfrm>
          <a:prstGeom prst="rect">
            <a:avLst/>
          </a:prstGeom>
          <a:noFill/>
          <a:ln/>
        </p:spPr>
        <p:txBody>
          <a:bodyPr wrap="square" lIns="0" tIns="0" rIns="0" bIns="0" rtlCol="0" anchor="ctr"/>
          <a:lstStyle/>
          <a:p>
            <a:pPr algn="ctr" indent="0" marL="0">
              <a:buNone/>
            </a:pPr>
            <a:r>
              <a:rPr lang="en-US" sz="1250" dirty="0">
                <a:solidFill>
                  <a:srgbClr val="6B7B84"/>
                </a:solidFill>
                <a:latin typeface="Calibri" pitchFamily="34" charset="0"/>
                <a:ea typeface="Calibri" pitchFamily="34" charset="-122"/>
                <a:cs typeface="Calibri" pitchFamily="34" charset="-120"/>
              </a:rPr>
              <a:t>voxels par volume</a:t>
            </a:r>
            <a:endParaRPr lang="en-US" sz="1250" dirty="0"/>
          </a:p>
        </p:txBody>
      </p:sp>
      <p:sp>
        <p:nvSpPr>
          <p:cNvPr id="9" name="Shape 7"/>
          <p:cNvSpPr/>
          <p:nvPr/>
        </p:nvSpPr>
        <p:spPr>
          <a:xfrm>
            <a:off x="6272784" y="1508760"/>
            <a:ext cx="2697480" cy="1371600"/>
          </a:xfrm>
          <a:prstGeom prst="roundRect">
            <a:avLst>
              <a:gd name="adj" fmla="val 6000"/>
            </a:avLst>
          </a:prstGeom>
          <a:solidFill>
            <a:srgbClr val="EAF3F3"/>
          </a:solidFill>
          <a:ln/>
          <a:effectLst>
            <a:outerShdw sx="100000" sy="100000" kx="0" ky="0" algn="bl" rotWithShape="0" blurRad="88900" dist="25400" dir="5400000">
              <a:srgbClr val="9AAEB5">
                <a:alpha val="35000"/>
              </a:srgbClr>
            </a:outerShdw>
          </a:effectLst>
        </p:spPr>
      </p:sp>
      <p:sp>
        <p:nvSpPr>
          <p:cNvPr id="10" name="Text 8"/>
          <p:cNvSpPr txBox="1"/>
          <p:nvPr/>
        </p:nvSpPr>
        <p:spPr>
          <a:xfrm>
            <a:off x="6272784" y="1645920"/>
            <a:ext cx="2697480" cy="731520"/>
          </a:xfrm>
          <a:prstGeom prst="rect">
            <a:avLst/>
          </a:prstGeom>
          <a:noFill/>
          <a:ln/>
        </p:spPr>
        <p:txBody>
          <a:bodyPr wrap="square" lIns="0" tIns="0" rIns="0" bIns="0" rtlCol="0" anchor="ctr"/>
          <a:lstStyle/>
          <a:p>
            <a:pPr algn="ctr" indent="0" marL="0">
              <a:buNone/>
            </a:pPr>
            <a:r>
              <a:rPr lang="en-US" sz="3400" b="1" dirty="0">
                <a:solidFill>
                  <a:srgbClr val="1C7293"/>
                </a:solidFill>
                <a:latin typeface="Cambria" pitchFamily="34" charset="0"/>
                <a:ea typeface="Cambria" pitchFamily="34" charset="-122"/>
                <a:cs typeface="Cambria" pitchFamily="34" charset="-120"/>
              </a:rPr>
              <a:t>~25 %</a:t>
            </a:r>
            <a:endParaRPr lang="en-US" sz="3400" dirty="0"/>
          </a:p>
        </p:txBody>
      </p:sp>
      <p:sp>
        <p:nvSpPr>
          <p:cNvPr id="11" name="Text 9"/>
          <p:cNvSpPr txBox="1"/>
          <p:nvPr/>
        </p:nvSpPr>
        <p:spPr>
          <a:xfrm>
            <a:off x="6409944" y="2377440"/>
            <a:ext cx="2423160" cy="457200"/>
          </a:xfrm>
          <a:prstGeom prst="rect">
            <a:avLst/>
          </a:prstGeom>
          <a:noFill/>
          <a:ln/>
        </p:spPr>
        <p:txBody>
          <a:bodyPr wrap="square" lIns="0" tIns="0" rIns="0" bIns="0" rtlCol="0" anchor="ctr"/>
          <a:lstStyle/>
          <a:p>
            <a:pPr algn="ctr" indent="0" marL="0">
              <a:buNone/>
            </a:pPr>
            <a:r>
              <a:rPr lang="en-US" sz="1250" dirty="0">
                <a:solidFill>
                  <a:srgbClr val="6B7B84"/>
                </a:solidFill>
                <a:latin typeface="Calibri" pitchFamily="34" charset="0"/>
                <a:ea typeface="Calibri" pitchFamily="34" charset="-122"/>
                <a:cs typeface="Calibri" pitchFamily="34" charset="-120"/>
              </a:rPr>
              <a:t>nodules malins (déséquilibré)</a:t>
            </a:r>
            <a:endParaRPr lang="en-US" sz="1250" dirty="0"/>
          </a:p>
        </p:txBody>
      </p:sp>
      <p:sp>
        <p:nvSpPr>
          <p:cNvPr id="12" name="Shape 10"/>
          <p:cNvSpPr/>
          <p:nvPr/>
        </p:nvSpPr>
        <p:spPr>
          <a:xfrm>
            <a:off x="9134856" y="1508760"/>
            <a:ext cx="2697480" cy="1371600"/>
          </a:xfrm>
          <a:prstGeom prst="roundRect">
            <a:avLst>
              <a:gd name="adj" fmla="val 6000"/>
            </a:avLst>
          </a:prstGeom>
          <a:solidFill>
            <a:srgbClr val="F2F6F7"/>
          </a:solidFill>
          <a:ln/>
          <a:effectLst>
            <a:outerShdw sx="100000" sy="100000" kx="0" ky="0" algn="bl" rotWithShape="0" blurRad="88900" dist="25400" dir="5400000">
              <a:srgbClr val="9AAEB5">
                <a:alpha val="35000"/>
              </a:srgbClr>
            </a:outerShdw>
          </a:effectLst>
        </p:spPr>
      </p:sp>
      <p:sp>
        <p:nvSpPr>
          <p:cNvPr id="13" name="Text 11"/>
          <p:cNvSpPr txBox="1"/>
          <p:nvPr/>
        </p:nvSpPr>
        <p:spPr>
          <a:xfrm>
            <a:off x="9134856" y="1645920"/>
            <a:ext cx="2697480" cy="731520"/>
          </a:xfrm>
          <a:prstGeom prst="rect">
            <a:avLst/>
          </a:prstGeom>
          <a:noFill/>
          <a:ln/>
        </p:spPr>
        <p:txBody>
          <a:bodyPr wrap="square" lIns="0" tIns="0" rIns="0" bIns="0" rtlCol="0" anchor="ctr"/>
          <a:lstStyle/>
          <a:p>
            <a:pPr algn="ctr" indent="0" marL="0">
              <a:buNone/>
            </a:pPr>
            <a:r>
              <a:rPr lang="en-US" sz="3400" b="1" dirty="0">
                <a:solidFill>
                  <a:srgbClr val="E76F51"/>
                </a:solidFill>
                <a:latin typeface="Cambria" pitchFamily="34" charset="0"/>
                <a:ea typeface="Cambria" pitchFamily="34" charset="-122"/>
                <a:cs typeface="Cambria" pitchFamily="34" charset="-120"/>
              </a:rPr>
              <a:t>binaire</a:t>
            </a:r>
            <a:endParaRPr lang="en-US" sz="3400" dirty="0"/>
          </a:p>
        </p:txBody>
      </p:sp>
      <p:sp>
        <p:nvSpPr>
          <p:cNvPr id="14" name="Text 12"/>
          <p:cNvSpPr txBox="1"/>
          <p:nvPr/>
        </p:nvSpPr>
        <p:spPr>
          <a:xfrm>
            <a:off x="9272016" y="2377440"/>
            <a:ext cx="2423160" cy="457200"/>
          </a:xfrm>
          <a:prstGeom prst="rect">
            <a:avLst/>
          </a:prstGeom>
          <a:noFill/>
          <a:ln/>
        </p:spPr>
        <p:txBody>
          <a:bodyPr wrap="square" lIns="0" tIns="0" rIns="0" bIns="0" rtlCol="0" anchor="ctr"/>
          <a:lstStyle/>
          <a:p>
            <a:pPr algn="ctr" indent="0" marL="0">
              <a:buNone/>
            </a:pPr>
            <a:r>
              <a:rPr lang="en-US" sz="1250" dirty="0">
                <a:solidFill>
                  <a:srgbClr val="6B7B84"/>
                </a:solidFill>
                <a:latin typeface="Calibri" pitchFamily="34" charset="0"/>
                <a:ea typeface="Calibri" pitchFamily="34" charset="-122"/>
                <a:cs typeface="Calibri" pitchFamily="34" charset="-120"/>
              </a:rPr>
              <a:t>bénin vs malin</a:t>
            </a:r>
            <a:endParaRPr lang="en-US" sz="1250" dirty="0"/>
          </a:p>
        </p:txBody>
      </p:sp>
      <p:sp>
        <p:nvSpPr>
          <p:cNvPr id="15" name="Text 13"/>
          <p:cNvSpPr txBox="1"/>
          <p:nvPr/>
        </p:nvSpPr>
        <p:spPr>
          <a:xfrm>
            <a:off x="548640" y="3200400"/>
            <a:ext cx="10058400" cy="365760"/>
          </a:xfrm>
          <a:prstGeom prst="rect">
            <a:avLst/>
          </a:prstGeom>
          <a:noFill/>
          <a:ln/>
        </p:spPr>
        <p:txBody>
          <a:bodyPr wrap="square" lIns="0" tIns="0" rIns="0" bIns="0" rtlCol="0" anchor="ctr"/>
          <a:lstStyle/>
          <a:p>
            <a:pPr indent="0" marL="0">
              <a:buNone/>
            </a:pPr>
            <a:r>
              <a:rPr lang="en-US" sz="1800" b="1" dirty="0">
                <a:solidFill>
                  <a:srgbClr val="0B3C5D"/>
                </a:solidFill>
                <a:latin typeface="Cambria" pitchFamily="34" charset="0"/>
                <a:ea typeface="Cambria" pitchFamily="34" charset="-122"/>
                <a:cs typeface="Cambria" pitchFamily="34" charset="-120"/>
              </a:rPr>
              <a:t>Pourquoi ce jeu de données</a:t>
            </a:r>
            <a:endParaRPr lang="en-US" sz="1800" dirty="0"/>
          </a:p>
        </p:txBody>
      </p:sp>
      <p:sp>
        <p:nvSpPr>
          <p:cNvPr id="16" name="Text 14"/>
          <p:cNvSpPr txBox="1"/>
          <p:nvPr/>
        </p:nvSpPr>
        <p:spPr>
          <a:xfrm>
            <a:off x="640080" y="3657600"/>
            <a:ext cx="10972800" cy="2377440"/>
          </a:xfrm>
          <a:prstGeom prst="rect">
            <a:avLst/>
          </a:prstGeom>
          <a:noFill/>
          <a:ln/>
        </p:spPr>
        <p:txBody>
          <a:bodyPr wrap="square" lIns="0" tIns="0" rIns="0" bIns="0" rtlCol="0" anchor="ctr"/>
          <a:lstStyle/>
          <a:p>
            <a:pPr marL="228600" indent="-228600">
              <a:spcAft>
                <a:spcPts val="700"/>
              </a:spcAft>
              <a:buSzPct val="100000"/>
              <a:buChar char="•"/>
            </a:pPr>
            <a:r>
              <a:rPr lang="en-US" sz="1550" dirty="0">
                <a:solidFill>
                  <a:srgbClr val="16323D"/>
                </a:solidFill>
                <a:latin typeface="Calibri" pitchFamily="34" charset="0"/>
                <a:ea typeface="Calibri" pitchFamily="34" charset="-122"/>
                <a:cs typeface="Calibri" pitchFamily="34" charset="-120"/>
              </a:rPr>
              <a:t>Médical &amp; public (condition imposée), licence ouverte</a:t>
            </a:r>
            <a:endParaRPr lang="en-US" sz="1550" dirty="0"/>
          </a:p>
          <a:p>
            <a:pPr marL="228600" indent="-228600">
              <a:spcAft>
                <a:spcPts val="700"/>
              </a:spcAft>
              <a:buSzPct val="100000"/>
              <a:buChar char="•"/>
            </a:pPr>
            <a:r>
              <a:rPr lang="en-US" sz="1550" dirty="0">
                <a:solidFill>
                  <a:srgbClr val="16323D"/>
                </a:solidFill>
                <a:latin typeface="Calibri" pitchFamily="34" charset="0"/>
                <a:ea typeface="Calibri" pitchFamily="34" charset="-122"/>
                <a:cs typeface="Calibri" pitchFamily="34" charset="-120"/>
              </a:rPr>
              <a:t>Léger → budget laptop-GPU : on peut entraîner teacher + student + variantes KD</a:t>
            </a:r>
            <a:endParaRPr lang="en-US" sz="1550" dirty="0"/>
          </a:p>
          <a:p>
            <a:pPr marL="228600" indent="-228600">
              <a:spcAft>
                <a:spcPts val="700"/>
              </a:spcAft>
              <a:buSzPct val="100000"/>
              <a:buChar char="•"/>
            </a:pPr>
            <a:r>
              <a:rPr lang="en-US" sz="1550" dirty="0">
                <a:solidFill>
                  <a:srgbClr val="16323D"/>
                </a:solidFill>
                <a:latin typeface="Calibri" pitchFamily="34" charset="0"/>
                <a:ea typeface="Calibri" pitchFamily="34" charset="-122"/>
                <a:cs typeface="Calibri" pitchFamily="34" charset="-120"/>
              </a:rPr>
              <a:t>Convertible en nuages de points : échantillonnage de voxels pondéré par l'intensité → (x, y, z, intensité)</a:t>
            </a:r>
            <a:endParaRPr lang="en-US" sz="1550" dirty="0"/>
          </a:p>
          <a:p>
            <a:pPr marL="228600" indent="-228600">
              <a:spcAft>
                <a:spcPts val="700"/>
              </a:spcAft>
              <a:buSzPct val="100000"/>
              <a:buChar char="•"/>
            </a:pPr>
            <a:r>
              <a:rPr lang="en-US" sz="1550" dirty="0">
                <a:solidFill>
                  <a:srgbClr val="16323D"/>
                </a:solidFill>
                <a:latin typeface="Calibri" pitchFamily="34" charset="0"/>
                <a:ea typeface="Calibri" pitchFamily="34" charset="-122"/>
                <a:cs typeface="Calibri" pitchFamily="34" charset="-120"/>
              </a:rPr>
              <a:t>Idéal pour le sous-échantillonnage : nuage dense 1024 pts, puis on retire des points au test</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Des volumes CT aux nuages de points</a:t>
            </a:r>
            <a:endParaRPr lang="en-US" sz="3200" dirty="0"/>
          </a:p>
        </p:txBody>
      </p:sp>
      <p:sp>
        <p:nvSpPr>
          <p:cNvPr id="3" name="Shape 1"/>
          <p:cNvSpPr/>
          <p:nvPr/>
        </p:nvSpPr>
        <p:spPr>
          <a:xfrm>
            <a:off x="548640" y="1737360"/>
            <a:ext cx="2651760" cy="2286000"/>
          </a:xfrm>
          <a:prstGeom prst="roundRect">
            <a:avLst>
              <a:gd name="adj" fmla="val 3600"/>
            </a:avLst>
          </a:prstGeom>
          <a:solidFill>
            <a:srgbClr val="F2F6F7"/>
          </a:solidFill>
          <a:ln/>
          <a:effectLst>
            <a:outerShdw sx="100000" sy="100000" kx="0" ky="0" algn="bl" rotWithShape="0" blurRad="88900" dist="25400" dir="5400000">
              <a:srgbClr val="9AAEB5">
                <a:alpha val="35000"/>
              </a:srgbClr>
            </a:outerShdw>
          </a:effectLst>
        </p:spPr>
      </p:sp>
      <p:sp>
        <p:nvSpPr>
          <p:cNvPr id="4" name="Shape 2"/>
          <p:cNvSpPr/>
          <p:nvPr/>
        </p:nvSpPr>
        <p:spPr>
          <a:xfrm>
            <a:off x="1572768" y="1965960"/>
            <a:ext cx="603504" cy="603504"/>
          </a:xfrm>
          <a:prstGeom prst="ellipse">
            <a:avLst/>
          </a:prstGeom>
          <a:solidFill>
            <a:srgbClr val="1C7293"/>
          </a:solidFill>
          <a:ln/>
        </p:spPr>
      </p:sp>
      <p:sp>
        <p:nvSpPr>
          <p:cNvPr id="5" name="Text 3"/>
          <p:cNvSpPr txBox="1"/>
          <p:nvPr/>
        </p:nvSpPr>
        <p:spPr>
          <a:xfrm>
            <a:off x="1572768" y="1965960"/>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640080" y="2743200"/>
            <a:ext cx="2468880" cy="457200"/>
          </a:xfrm>
          <a:prstGeom prst="rect">
            <a:avLst/>
          </a:prstGeom>
          <a:noFill/>
          <a:ln/>
        </p:spPr>
        <p:txBody>
          <a:bodyPr wrap="square" lIns="0" tIns="0" rIns="0" bIns="0" rtlCol="0" anchor="ctr"/>
          <a:lstStyle/>
          <a:p>
            <a:pPr algn="ctr" indent="0" marL="0">
              <a:buNone/>
            </a:pPr>
            <a:r>
              <a:rPr lang="en-US" sz="1700" b="1" dirty="0">
                <a:solidFill>
                  <a:srgbClr val="0B3C5D"/>
                </a:solidFill>
                <a:latin typeface="Cambria" pitchFamily="34" charset="0"/>
                <a:ea typeface="Cambria" pitchFamily="34" charset="-122"/>
                <a:cs typeface="Cambria" pitchFamily="34" charset="-120"/>
              </a:rPr>
              <a:t>Volume 28³</a:t>
            </a:r>
            <a:endParaRPr lang="en-US" sz="1700" dirty="0"/>
          </a:p>
        </p:txBody>
      </p:sp>
      <p:sp>
        <p:nvSpPr>
          <p:cNvPr id="7" name="Text 5"/>
          <p:cNvSpPr txBox="1"/>
          <p:nvPr/>
        </p:nvSpPr>
        <p:spPr>
          <a:xfrm>
            <a:off x="685800" y="3200400"/>
            <a:ext cx="2377440" cy="731520"/>
          </a:xfrm>
          <a:prstGeom prst="rect">
            <a:avLst/>
          </a:prstGeom>
          <a:noFill/>
          <a:ln/>
        </p:spPr>
        <p:txBody>
          <a:bodyPr wrap="square" lIns="0" tIns="0" rIns="0" bIns="0" rtlCol="0" anchor="ctr"/>
          <a:lstStyle/>
          <a:p>
            <a:pPr algn="ctr" indent="0" marL="0">
              <a:buNone/>
            </a:pPr>
            <a:r>
              <a:rPr lang="en-US" sz="1300" dirty="0">
                <a:solidFill>
                  <a:srgbClr val="6B7B84"/>
                </a:solidFill>
                <a:latin typeface="Calibri" pitchFamily="34" charset="0"/>
                <a:ea typeface="Calibri" pitchFamily="34" charset="-122"/>
                <a:cs typeface="Calibri" pitchFamily="34" charset="-120"/>
              </a:rPr>
              <a:t>intensités CT (0–255)</a:t>
            </a:r>
            <a:endParaRPr lang="en-US" sz="1300" dirty="0"/>
          </a:p>
        </p:txBody>
      </p:sp>
      <p:sp>
        <p:nvSpPr>
          <p:cNvPr id="8" name="Text 6"/>
          <p:cNvSpPr txBox="1"/>
          <p:nvPr/>
        </p:nvSpPr>
        <p:spPr>
          <a:xfrm>
            <a:off x="3182112" y="2651760"/>
            <a:ext cx="274320" cy="548640"/>
          </a:xfrm>
          <a:prstGeom prst="rect">
            <a:avLst/>
          </a:prstGeom>
          <a:noFill/>
          <a:ln/>
        </p:spPr>
        <p:txBody>
          <a:bodyPr wrap="square" lIns="0" tIns="0" rIns="0" bIns="0" rtlCol="0" anchor="ctr"/>
          <a:lstStyle/>
          <a:p>
            <a:pPr algn="ctr" indent="0" marL="0">
              <a:buNone/>
            </a:pPr>
            <a:r>
              <a:rPr lang="en-US" sz="2600" b="1" dirty="0">
                <a:solidFill>
                  <a:srgbClr val="2EC4B6"/>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3429000" y="1737360"/>
            <a:ext cx="2651760" cy="2286000"/>
          </a:xfrm>
          <a:prstGeom prst="roundRect">
            <a:avLst>
              <a:gd name="adj" fmla="val 3600"/>
            </a:avLst>
          </a:prstGeom>
          <a:solidFill>
            <a:srgbClr val="F2F6F7"/>
          </a:solidFill>
          <a:ln/>
          <a:effectLst>
            <a:outerShdw sx="100000" sy="100000" kx="0" ky="0" algn="bl" rotWithShape="0" blurRad="88900" dist="25400" dir="5400000">
              <a:srgbClr val="9AAEB5">
                <a:alpha val="35000"/>
              </a:srgbClr>
            </a:outerShdw>
          </a:effectLst>
        </p:spPr>
      </p:sp>
      <p:sp>
        <p:nvSpPr>
          <p:cNvPr id="10" name="Shape 8"/>
          <p:cNvSpPr/>
          <p:nvPr/>
        </p:nvSpPr>
        <p:spPr>
          <a:xfrm>
            <a:off x="4453128" y="1965960"/>
            <a:ext cx="603504" cy="603504"/>
          </a:xfrm>
          <a:prstGeom prst="ellipse">
            <a:avLst/>
          </a:prstGeom>
          <a:solidFill>
            <a:srgbClr val="1C7293"/>
          </a:solidFill>
          <a:ln/>
        </p:spPr>
      </p:sp>
      <p:sp>
        <p:nvSpPr>
          <p:cNvPr id="11" name="Text 9"/>
          <p:cNvSpPr txBox="1"/>
          <p:nvPr/>
        </p:nvSpPr>
        <p:spPr>
          <a:xfrm>
            <a:off x="4453128" y="1965960"/>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3520440" y="2743200"/>
            <a:ext cx="2468880" cy="457200"/>
          </a:xfrm>
          <a:prstGeom prst="rect">
            <a:avLst/>
          </a:prstGeom>
          <a:noFill/>
          <a:ln/>
        </p:spPr>
        <p:txBody>
          <a:bodyPr wrap="square" lIns="0" tIns="0" rIns="0" bIns="0" rtlCol="0" anchor="ctr"/>
          <a:lstStyle/>
          <a:p>
            <a:pPr algn="ctr" indent="0" marL="0">
              <a:buNone/>
            </a:pPr>
            <a:r>
              <a:rPr lang="en-US" sz="1700" b="1" dirty="0">
                <a:solidFill>
                  <a:srgbClr val="0B3C5D"/>
                </a:solidFill>
                <a:latin typeface="Cambria" pitchFamily="34" charset="0"/>
                <a:ea typeface="Cambria" pitchFamily="34" charset="-122"/>
                <a:cs typeface="Cambria" pitchFamily="34" charset="-120"/>
              </a:rPr>
              <a:t>Échantillonnage</a:t>
            </a:r>
            <a:endParaRPr lang="en-US" sz="1700" dirty="0"/>
          </a:p>
        </p:txBody>
      </p:sp>
      <p:sp>
        <p:nvSpPr>
          <p:cNvPr id="13" name="Text 11"/>
          <p:cNvSpPr txBox="1"/>
          <p:nvPr/>
        </p:nvSpPr>
        <p:spPr>
          <a:xfrm>
            <a:off x="3566160" y="3200400"/>
            <a:ext cx="2377440" cy="731520"/>
          </a:xfrm>
          <a:prstGeom prst="rect">
            <a:avLst/>
          </a:prstGeom>
          <a:noFill/>
          <a:ln/>
        </p:spPr>
        <p:txBody>
          <a:bodyPr wrap="square" lIns="0" tIns="0" rIns="0" bIns="0" rtlCol="0" anchor="ctr"/>
          <a:lstStyle/>
          <a:p>
            <a:pPr algn="ctr" indent="0" marL="0">
              <a:buNone/>
            </a:pPr>
            <a:r>
              <a:rPr lang="en-US" sz="1300" dirty="0">
                <a:solidFill>
                  <a:srgbClr val="6B7B84"/>
                </a:solidFill>
                <a:latin typeface="Calibri" pitchFamily="34" charset="0"/>
                <a:ea typeface="Calibri" pitchFamily="34" charset="-122"/>
                <a:cs typeface="Calibri" pitchFamily="34" charset="-120"/>
              </a:rPr>
              <a:t>voxels pondérés par l'intensité</a:t>
            </a:r>
            <a:endParaRPr lang="en-US" sz="1300" dirty="0"/>
          </a:p>
        </p:txBody>
      </p:sp>
      <p:sp>
        <p:nvSpPr>
          <p:cNvPr id="14" name="Text 12"/>
          <p:cNvSpPr txBox="1"/>
          <p:nvPr/>
        </p:nvSpPr>
        <p:spPr>
          <a:xfrm>
            <a:off x="6062472" y="2651760"/>
            <a:ext cx="274320" cy="548640"/>
          </a:xfrm>
          <a:prstGeom prst="rect">
            <a:avLst/>
          </a:prstGeom>
          <a:noFill/>
          <a:ln/>
        </p:spPr>
        <p:txBody>
          <a:bodyPr wrap="square" lIns="0" tIns="0" rIns="0" bIns="0" rtlCol="0" anchor="ctr"/>
          <a:lstStyle/>
          <a:p>
            <a:pPr algn="ctr" indent="0" marL="0">
              <a:buNone/>
            </a:pPr>
            <a:r>
              <a:rPr lang="en-US" sz="2600" b="1" dirty="0">
                <a:solidFill>
                  <a:srgbClr val="2EC4B6"/>
                </a:solidFill>
                <a:latin typeface="Calibri" pitchFamily="34" charset="0"/>
                <a:ea typeface="Calibri" pitchFamily="34" charset="-122"/>
                <a:cs typeface="Calibri" pitchFamily="34" charset="-120"/>
              </a:rPr>
              <a:t>→</a:t>
            </a:r>
            <a:endParaRPr lang="en-US" sz="2600" dirty="0"/>
          </a:p>
        </p:txBody>
      </p:sp>
      <p:sp>
        <p:nvSpPr>
          <p:cNvPr id="15" name="Shape 13"/>
          <p:cNvSpPr/>
          <p:nvPr/>
        </p:nvSpPr>
        <p:spPr>
          <a:xfrm>
            <a:off x="6309360" y="1737360"/>
            <a:ext cx="2651760" cy="2286000"/>
          </a:xfrm>
          <a:prstGeom prst="roundRect">
            <a:avLst>
              <a:gd name="adj" fmla="val 3600"/>
            </a:avLst>
          </a:prstGeom>
          <a:solidFill>
            <a:srgbClr val="F2F6F7"/>
          </a:solidFill>
          <a:ln/>
          <a:effectLst>
            <a:outerShdw sx="100000" sy="100000" kx="0" ky="0" algn="bl" rotWithShape="0" blurRad="88900" dist="25400" dir="5400000">
              <a:srgbClr val="9AAEB5">
                <a:alpha val="35000"/>
              </a:srgbClr>
            </a:outerShdw>
          </a:effectLst>
        </p:spPr>
      </p:sp>
      <p:sp>
        <p:nvSpPr>
          <p:cNvPr id="16" name="Shape 14"/>
          <p:cNvSpPr/>
          <p:nvPr/>
        </p:nvSpPr>
        <p:spPr>
          <a:xfrm>
            <a:off x="7333488" y="1965960"/>
            <a:ext cx="603504" cy="603504"/>
          </a:xfrm>
          <a:prstGeom prst="ellipse">
            <a:avLst/>
          </a:prstGeom>
          <a:solidFill>
            <a:srgbClr val="1C7293"/>
          </a:solidFill>
          <a:ln/>
        </p:spPr>
      </p:sp>
      <p:sp>
        <p:nvSpPr>
          <p:cNvPr id="17" name="Text 15"/>
          <p:cNvSpPr txBox="1"/>
          <p:nvPr/>
        </p:nvSpPr>
        <p:spPr>
          <a:xfrm>
            <a:off x="7333488" y="1965960"/>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6400800" y="2743200"/>
            <a:ext cx="2468880" cy="457200"/>
          </a:xfrm>
          <a:prstGeom prst="rect">
            <a:avLst/>
          </a:prstGeom>
          <a:noFill/>
          <a:ln/>
        </p:spPr>
        <p:txBody>
          <a:bodyPr wrap="square" lIns="0" tIns="0" rIns="0" bIns="0" rtlCol="0" anchor="ctr"/>
          <a:lstStyle/>
          <a:p>
            <a:pPr algn="ctr" indent="0" marL="0">
              <a:buNone/>
            </a:pPr>
            <a:r>
              <a:rPr lang="en-US" sz="1700" b="1" dirty="0">
                <a:solidFill>
                  <a:srgbClr val="0B3C5D"/>
                </a:solidFill>
                <a:latin typeface="Cambria" pitchFamily="34" charset="0"/>
                <a:ea typeface="Cambria" pitchFamily="34" charset="-122"/>
                <a:cs typeface="Cambria" pitchFamily="34" charset="-120"/>
              </a:rPr>
              <a:t>Nuage dense</a:t>
            </a:r>
            <a:endParaRPr lang="en-US" sz="1700" dirty="0"/>
          </a:p>
        </p:txBody>
      </p:sp>
      <p:sp>
        <p:nvSpPr>
          <p:cNvPr id="19" name="Text 17"/>
          <p:cNvSpPr txBox="1"/>
          <p:nvPr/>
        </p:nvSpPr>
        <p:spPr>
          <a:xfrm>
            <a:off x="6446520" y="3200400"/>
            <a:ext cx="2377440" cy="731520"/>
          </a:xfrm>
          <a:prstGeom prst="rect">
            <a:avLst/>
          </a:prstGeom>
          <a:noFill/>
          <a:ln/>
        </p:spPr>
        <p:txBody>
          <a:bodyPr wrap="square" lIns="0" tIns="0" rIns="0" bIns="0" rtlCol="0" anchor="ctr"/>
          <a:lstStyle/>
          <a:p>
            <a:pPr algn="ctr" indent="0" marL="0">
              <a:buNone/>
            </a:pPr>
            <a:r>
              <a:rPr lang="en-US" sz="1300" dirty="0">
                <a:solidFill>
                  <a:srgbClr val="6B7B84"/>
                </a:solidFill>
                <a:latin typeface="Calibri" pitchFamily="34" charset="0"/>
                <a:ea typeface="Calibri" pitchFamily="34" charset="-122"/>
                <a:cs typeface="Calibri" pitchFamily="34" charset="-120"/>
              </a:rPr>
              <a:t>1024 pts · (x, y, z, I)</a:t>
            </a:r>
            <a:endParaRPr lang="en-US" sz="1300" dirty="0"/>
          </a:p>
        </p:txBody>
      </p:sp>
      <p:sp>
        <p:nvSpPr>
          <p:cNvPr id="20" name="Text 18"/>
          <p:cNvSpPr txBox="1"/>
          <p:nvPr/>
        </p:nvSpPr>
        <p:spPr>
          <a:xfrm>
            <a:off x="8942832" y="2651760"/>
            <a:ext cx="274320" cy="548640"/>
          </a:xfrm>
          <a:prstGeom prst="rect">
            <a:avLst/>
          </a:prstGeom>
          <a:noFill/>
          <a:ln/>
        </p:spPr>
        <p:txBody>
          <a:bodyPr wrap="square" lIns="0" tIns="0" rIns="0" bIns="0" rtlCol="0" anchor="ctr"/>
          <a:lstStyle/>
          <a:p>
            <a:pPr algn="ctr" indent="0" marL="0">
              <a:buNone/>
            </a:pPr>
            <a:r>
              <a:rPr lang="en-US" sz="2600" b="1" dirty="0">
                <a:solidFill>
                  <a:srgbClr val="2EC4B6"/>
                </a:solidFill>
                <a:latin typeface="Calibri" pitchFamily="34" charset="0"/>
                <a:ea typeface="Calibri" pitchFamily="34" charset="-122"/>
                <a:cs typeface="Calibri" pitchFamily="34" charset="-120"/>
              </a:rPr>
              <a:t>→</a:t>
            </a:r>
            <a:endParaRPr lang="en-US" sz="2600" dirty="0"/>
          </a:p>
        </p:txBody>
      </p:sp>
      <p:sp>
        <p:nvSpPr>
          <p:cNvPr id="21" name="Shape 19"/>
          <p:cNvSpPr/>
          <p:nvPr/>
        </p:nvSpPr>
        <p:spPr>
          <a:xfrm>
            <a:off x="9189720" y="1737360"/>
            <a:ext cx="2651760" cy="2286000"/>
          </a:xfrm>
          <a:prstGeom prst="roundRect">
            <a:avLst>
              <a:gd name="adj" fmla="val 3600"/>
            </a:avLst>
          </a:prstGeom>
          <a:solidFill>
            <a:srgbClr val="F2F6F7"/>
          </a:solidFill>
          <a:ln/>
          <a:effectLst>
            <a:outerShdw sx="100000" sy="100000" kx="0" ky="0" algn="bl" rotWithShape="0" blurRad="88900" dist="25400" dir="5400000">
              <a:srgbClr val="9AAEB5">
                <a:alpha val="35000"/>
              </a:srgbClr>
            </a:outerShdw>
          </a:effectLst>
        </p:spPr>
      </p:sp>
      <p:sp>
        <p:nvSpPr>
          <p:cNvPr id="22" name="Shape 20"/>
          <p:cNvSpPr/>
          <p:nvPr/>
        </p:nvSpPr>
        <p:spPr>
          <a:xfrm>
            <a:off x="10213848" y="1965960"/>
            <a:ext cx="603504" cy="603504"/>
          </a:xfrm>
          <a:prstGeom prst="ellipse">
            <a:avLst/>
          </a:prstGeom>
          <a:solidFill>
            <a:srgbClr val="E76F51"/>
          </a:solidFill>
          <a:ln/>
        </p:spPr>
      </p:sp>
      <p:sp>
        <p:nvSpPr>
          <p:cNvPr id="23" name="Text 21"/>
          <p:cNvSpPr txBox="1"/>
          <p:nvPr/>
        </p:nvSpPr>
        <p:spPr>
          <a:xfrm>
            <a:off x="10213848" y="1965960"/>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txBox="1"/>
          <p:nvPr/>
        </p:nvSpPr>
        <p:spPr>
          <a:xfrm>
            <a:off x="9281160" y="2743200"/>
            <a:ext cx="2468880" cy="457200"/>
          </a:xfrm>
          <a:prstGeom prst="rect">
            <a:avLst/>
          </a:prstGeom>
          <a:noFill/>
          <a:ln/>
        </p:spPr>
        <p:txBody>
          <a:bodyPr wrap="square" lIns="0" tIns="0" rIns="0" bIns="0" rtlCol="0" anchor="ctr"/>
          <a:lstStyle/>
          <a:p>
            <a:pPr algn="ctr" indent="0" marL="0">
              <a:buNone/>
            </a:pPr>
            <a:r>
              <a:rPr lang="en-US" sz="1700" b="1" dirty="0">
                <a:solidFill>
                  <a:srgbClr val="0B3C5D"/>
                </a:solidFill>
                <a:latin typeface="Cambria" pitchFamily="34" charset="0"/>
                <a:ea typeface="Cambria" pitchFamily="34" charset="-122"/>
                <a:cs typeface="Cambria" pitchFamily="34" charset="-120"/>
              </a:rPr>
              <a:t>Sous-échantillonnage</a:t>
            </a:r>
            <a:endParaRPr lang="en-US" sz="1700" dirty="0"/>
          </a:p>
        </p:txBody>
      </p:sp>
      <p:sp>
        <p:nvSpPr>
          <p:cNvPr id="25" name="Text 23"/>
          <p:cNvSpPr txBox="1"/>
          <p:nvPr/>
        </p:nvSpPr>
        <p:spPr>
          <a:xfrm>
            <a:off x="9326880" y="3200400"/>
            <a:ext cx="2377440" cy="731520"/>
          </a:xfrm>
          <a:prstGeom prst="rect">
            <a:avLst/>
          </a:prstGeom>
          <a:noFill/>
          <a:ln/>
        </p:spPr>
        <p:txBody>
          <a:bodyPr wrap="square" lIns="0" tIns="0" rIns="0" bIns="0" rtlCol="0" anchor="ctr"/>
          <a:lstStyle/>
          <a:p>
            <a:pPr algn="ctr" indent="0" marL="0">
              <a:buNone/>
            </a:pPr>
            <a:r>
              <a:rPr lang="en-US" sz="1300" dirty="0">
                <a:solidFill>
                  <a:srgbClr val="6B7B84"/>
                </a:solidFill>
                <a:latin typeface="Calibri" pitchFamily="34" charset="0"/>
                <a:ea typeface="Calibri" pitchFamily="34" charset="-122"/>
                <a:cs typeface="Calibri" pitchFamily="34" charset="-120"/>
              </a:rPr>
              <a:t>on garde N points au test</a:t>
            </a:r>
            <a:endParaRPr lang="en-US" sz="1300" dirty="0"/>
          </a:p>
        </p:txBody>
      </p:sp>
      <p:sp>
        <p:nvSpPr>
          <p:cNvPr id="26" name="Shape 24"/>
          <p:cNvSpPr/>
          <p:nvPr/>
        </p:nvSpPr>
        <p:spPr>
          <a:xfrm>
            <a:off x="5418395" y="4973813"/>
            <a:ext cx="101685" cy="101685"/>
          </a:xfrm>
          <a:prstGeom prst="ellipse">
            <a:avLst/>
          </a:prstGeom>
          <a:solidFill>
            <a:srgbClr val="1C7293">
              <a:alpha val="54287"/>
            </a:srgbClr>
          </a:solidFill>
          <a:ln/>
        </p:spPr>
      </p:sp>
      <p:sp>
        <p:nvSpPr>
          <p:cNvPr id="27" name="Shape 25"/>
          <p:cNvSpPr/>
          <p:nvPr/>
        </p:nvSpPr>
        <p:spPr>
          <a:xfrm>
            <a:off x="5743796" y="5701513"/>
            <a:ext cx="58574" cy="58574"/>
          </a:xfrm>
          <a:prstGeom prst="ellipse">
            <a:avLst/>
          </a:prstGeom>
          <a:solidFill>
            <a:srgbClr val="1C7293">
              <a:alpha val="39443"/>
            </a:srgbClr>
          </a:solidFill>
          <a:ln/>
        </p:spPr>
      </p:sp>
      <p:sp>
        <p:nvSpPr>
          <p:cNvPr id="28" name="Shape 26"/>
          <p:cNvSpPr/>
          <p:nvPr/>
        </p:nvSpPr>
        <p:spPr>
          <a:xfrm>
            <a:off x="6013728" y="5875703"/>
            <a:ext cx="96236" cy="96236"/>
          </a:xfrm>
          <a:prstGeom prst="ellipse">
            <a:avLst/>
          </a:prstGeom>
          <a:solidFill>
            <a:srgbClr val="1C7293">
              <a:alpha val="75987"/>
            </a:srgbClr>
          </a:solidFill>
          <a:ln/>
        </p:spPr>
      </p:sp>
      <p:sp>
        <p:nvSpPr>
          <p:cNvPr id="29" name="Shape 27"/>
          <p:cNvSpPr/>
          <p:nvPr/>
        </p:nvSpPr>
        <p:spPr>
          <a:xfrm>
            <a:off x="5549634" y="5566243"/>
            <a:ext cx="53919" cy="53919"/>
          </a:xfrm>
          <a:prstGeom prst="ellipse">
            <a:avLst/>
          </a:prstGeom>
          <a:solidFill>
            <a:srgbClr val="1C7293">
              <a:alpha val="45695"/>
            </a:srgbClr>
          </a:solidFill>
          <a:ln/>
        </p:spPr>
      </p:sp>
      <p:sp>
        <p:nvSpPr>
          <p:cNvPr id="30" name="Shape 28"/>
          <p:cNvSpPr/>
          <p:nvPr/>
        </p:nvSpPr>
        <p:spPr>
          <a:xfrm>
            <a:off x="6065882" y="6210871"/>
            <a:ext cx="147561" cy="147561"/>
          </a:xfrm>
          <a:prstGeom prst="ellipse">
            <a:avLst/>
          </a:prstGeom>
          <a:solidFill>
            <a:srgbClr val="1C7293">
              <a:alpha val="75984"/>
            </a:srgbClr>
          </a:solidFill>
          <a:ln/>
        </p:spPr>
      </p:sp>
      <p:sp>
        <p:nvSpPr>
          <p:cNvPr id="31" name="Shape 29"/>
          <p:cNvSpPr/>
          <p:nvPr/>
        </p:nvSpPr>
        <p:spPr>
          <a:xfrm>
            <a:off x="6003451" y="5230183"/>
            <a:ext cx="37510" cy="37510"/>
          </a:xfrm>
          <a:prstGeom prst="ellipse">
            <a:avLst/>
          </a:prstGeom>
          <a:solidFill>
            <a:srgbClr val="1C7293">
              <a:alpha val="50808"/>
            </a:srgbClr>
          </a:solidFill>
          <a:ln/>
        </p:spPr>
      </p:sp>
      <p:sp>
        <p:nvSpPr>
          <p:cNvPr id="32" name="Shape 30"/>
          <p:cNvSpPr/>
          <p:nvPr/>
        </p:nvSpPr>
        <p:spPr>
          <a:xfrm>
            <a:off x="5838321" y="4964254"/>
            <a:ext cx="39830" cy="39830"/>
          </a:xfrm>
          <a:prstGeom prst="ellipse">
            <a:avLst/>
          </a:prstGeom>
          <a:solidFill>
            <a:srgbClr val="1C7293">
              <a:alpha val="40725"/>
            </a:srgbClr>
          </a:solidFill>
          <a:ln/>
        </p:spPr>
      </p:sp>
      <p:sp>
        <p:nvSpPr>
          <p:cNvPr id="33" name="Shape 31"/>
          <p:cNvSpPr/>
          <p:nvPr/>
        </p:nvSpPr>
        <p:spPr>
          <a:xfrm>
            <a:off x="5207481" y="5926672"/>
            <a:ext cx="71915" cy="71915"/>
          </a:xfrm>
          <a:prstGeom prst="ellipse">
            <a:avLst/>
          </a:prstGeom>
          <a:solidFill>
            <a:srgbClr val="1C7293">
              <a:alpha val="30024"/>
            </a:srgbClr>
          </a:solidFill>
          <a:ln/>
        </p:spPr>
      </p:sp>
      <p:sp>
        <p:nvSpPr>
          <p:cNvPr id="34" name="Shape 32"/>
          <p:cNvSpPr/>
          <p:nvPr/>
        </p:nvSpPr>
        <p:spPr>
          <a:xfrm>
            <a:off x="5290952" y="4755655"/>
            <a:ext cx="84453" cy="84453"/>
          </a:xfrm>
          <a:prstGeom prst="ellipse">
            <a:avLst/>
          </a:prstGeom>
          <a:solidFill>
            <a:srgbClr val="1C7293">
              <a:alpha val="43199"/>
            </a:srgbClr>
          </a:solidFill>
          <a:ln/>
        </p:spPr>
      </p:sp>
      <p:sp>
        <p:nvSpPr>
          <p:cNvPr id="35" name="Shape 33"/>
          <p:cNvSpPr/>
          <p:nvPr/>
        </p:nvSpPr>
        <p:spPr>
          <a:xfrm>
            <a:off x="5196978" y="5998023"/>
            <a:ext cx="162439" cy="162439"/>
          </a:xfrm>
          <a:prstGeom prst="ellipse">
            <a:avLst/>
          </a:prstGeom>
          <a:solidFill>
            <a:srgbClr val="1C7293">
              <a:alpha val="31188"/>
            </a:srgbClr>
          </a:solidFill>
          <a:ln/>
        </p:spPr>
      </p:sp>
      <p:sp>
        <p:nvSpPr>
          <p:cNvPr id="36" name="Shape 34"/>
          <p:cNvSpPr/>
          <p:nvPr/>
        </p:nvSpPr>
        <p:spPr>
          <a:xfrm>
            <a:off x="6401607" y="4640560"/>
            <a:ext cx="128875" cy="128875"/>
          </a:xfrm>
          <a:prstGeom prst="ellipse">
            <a:avLst/>
          </a:prstGeom>
          <a:solidFill>
            <a:srgbClr val="1C7293">
              <a:alpha val="46465"/>
            </a:srgbClr>
          </a:solidFill>
          <a:ln/>
        </p:spPr>
      </p:sp>
      <p:sp>
        <p:nvSpPr>
          <p:cNvPr id="37" name="Shape 35"/>
          <p:cNvSpPr/>
          <p:nvPr/>
        </p:nvSpPr>
        <p:spPr>
          <a:xfrm>
            <a:off x="6106214" y="5338405"/>
            <a:ext cx="111151" cy="111151"/>
          </a:xfrm>
          <a:prstGeom prst="ellipse">
            <a:avLst/>
          </a:prstGeom>
          <a:solidFill>
            <a:srgbClr val="1C7293">
              <a:alpha val="51895"/>
            </a:srgbClr>
          </a:solidFill>
          <a:ln/>
        </p:spPr>
      </p:sp>
      <p:sp>
        <p:nvSpPr>
          <p:cNvPr id="38" name="Shape 36"/>
          <p:cNvSpPr/>
          <p:nvPr/>
        </p:nvSpPr>
        <p:spPr>
          <a:xfrm>
            <a:off x="5844581" y="5850574"/>
            <a:ext cx="92979" cy="92979"/>
          </a:xfrm>
          <a:prstGeom prst="ellipse">
            <a:avLst/>
          </a:prstGeom>
          <a:solidFill>
            <a:srgbClr val="1C7293">
              <a:alpha val="48640"/>
            </a:srgbClr>
          </a:solidFill>
          <a:ln/>
        </p:spPr>
      </p:sp>
      <p:sp>
        <p:nvSpPr>
          <p:cNvPr id="39" name="Shape 37"/>
          <p:cNvSpPr/>
          <p:nvPr/>
        </p:nvSpPr>
        <p:spPr>
          <a:xfrm>
            <a:off x="5685376" y="4937559"/>
            <a:ext cx="46229" cy="46229"/>
          </a:xfrm>
          <a:prstGeom prst="ellipse">
            <a:avLst/>
          </a:prstGeom>
          <a:solidFill>
            <a:srgbClr val="1C7293">
              <a:alpha val="75807"/>
            </a:srgbClr>
          </a:solidFill>
          <a:ln/>
        </p:spPr>
      </p:sp>
      <p:sp>
        <p:nvSpPr>
          <p:cNvPr id="40" name="Shape 38"/>
          <p:cNvSpPr/>
          <p:nvPr/>
        </p:nvSpPr>
        <p:spPr>
          <a:xfrm>
            <a:off x="6892227" y="5672522"/>
            <a:ext cx="156251" cy="156251"/>
          </a:xfrm>
          <a:prstGeom prst="ellipse">
            <a:avLst/>
          </a:prstGeom>
          <a:solidFill>
            <a:srgbClr val="1C7293">
              <a:alpha val="64935"/>
            </a:srgbClr>
          </a:solidFill>
          <a:ln/>
        </p:spPr>
      </p:sp>
      <p:sp>
        <p:nvSpPr>
          <p:cNvPr id="41" name="Shape 39"/>
          <p:cNvSpPr/>
          <p:nvPr/>
        </p:nvSpPr>
        <p:spPr>
          <a:xfrm>
            <a:off x="6504263" y="4643554"/>
            <a:ext cx="52784" cy="52784"/>
          </a:xfrm>
          <a:prstGeom prst="ellipse">
            <a:avLst/>
          </a:prstGeom>
          <a:solidFill>
            <a:srgbClr val="1C7293">
              <a:alpha val="73762"/>
            </a:srgbClr>
          </a:solidFill>
          <a:ln/>
        </p:spPr>
      </p:sp>
      <p:sp>
        <p:nvSpPr>
          <p:cNvPr id="42" name="Shape 40"/>
          <p:cNvSpPr/>
          <p:nvPr/>
        </p:nvSpPr>
        <p:spPr>
          <a:xfrm>
            <a:off x="5359705" y="5172509"/>
            <a:ext cx="119676" cy="119676"/>
          </a:xfrm>
          <a:prstGeom prst="ellipse">
            <a:avLst/>
          </a:prstGeom>
          <a:solidFill>
            <a:srgbClr val="1C7293">
              <a:alpha val="52942"/>
            </a:srgbClr>
          </a:solidFill>
          <a:ln/>
        </p:spPr>
      </p:sp>
      <p:sp>
        <p:nvSpPr>
          <p:cNvPr id="43" name="Shape 41"/>
          <p:cNvSpPr/>
          <p:nvPr/>
        </p:nvSpPr>
        <p:spPr>
          <a:xfrm>
            <a:off x="6101122" y="4842356"/>
            <a:ext cx="102475" cy="102475"/>
          </a:xfrm>
          <a:prstGeom prst="ellipse">
            <a:avLst/>
          </a:prstGeom>
          <a:solidFill>
            <a:srgbClr val="1C7293">
              <a:alpha val="74072"/>
            </a:srgbClr>
          </a:solidFill>
          <a:ln/>
        </p:spPr>
      </p:sp>
      <p:sp>
        <p:nvSpPr>
          <p:cNvPr id="44" name="Shape 42"/>
          <p:cNvSpPr/>
          <p:nvPr/>
        </p:nvSpPr>
        <p:spPr>
          <a:xfrm>
            <a:off x="5169567" y="4712067"/>
            <a:ext cx="40370" cy="40370"/>
          </a:xfrm>
          <a:prstGeom prst="ellipse">
            <a:avLst/>
          </a:prstGeom>
          <a:solidFill>
            <a:srgbClr val="1C7293">
              <a:alpha val="51278"/>
            </a:srgbClr>
          </a:solidFill>
          <a:ln/>
        </p:spPr>
      </p:sp>
      <p:sp>
        <p:nvSpPr>
          <p:cNvPr id="45" name="Shape 43"/>
          <p:cNvSpPr/>
          <p:nvPr/>
        </p:nvSpPr>
        <p:spPr>
          <a:xfrm>
            <a:off x="5667278" y="6089093"/>
            <a:ext cx="141457" cy="141457"/>
          </a:xfrm>
          <a:prstGeom prst="ellipse">
            <a:avLst/>
          </a:prstGeom>
          <a:solidFill>
            <a:srgbClr val="1C7293">
              <a:alpha val="61844"/>
            </a:srgbClr>
          </a:solidFill>
          <a:ln/>
        </p:spPr>
      </p:sp>
      <p:sp>
        <p:nvSpPr>
          <p:cNvPr id="46" name="Shape 44"/>
          <p:cNvSpPr/>
          <p:nvPr/>
        </p:nvSpPr>
        <p:spPr>
          <a:xfrm>
            <a:off x="5849055" y="5760871"/>
            <a:ext cx="60741" cy="60741"/>
          </a:xfrm>
          <a:prstGeom prst="ellipse">
            <a:avLst/>
          </a:prstGeom>
          <a:solidFill>
            <a:srgbClr val="1C7293">
              <a:alpha val="38339"/>
            </a:srgbClr>
          </a:solidFill>
          <a:ln/>
        </p:spPr>
      </p:sp>
      <p:sp>
        <p:nvSpPr>
          <p:cNvPr id="47" name="Shape 45"/>
          <p:cNvSpPr/>
          <p:nvPr/>
        </p:nvSpPr>
        <p:spPr>
          <a:xfrm>
            <a:off x="6719043" y="4583652"/>
            <a:ext cx="125950" cy="125950"/>
          </a:xfrm>
          <a:prstGeom prst="ellipse">
            <a:avLst/>
          </a:prstGeom>
          <a:solidFill>
            <a:srgbClr val="1C7293">
              <a:alpha val="60414"/>
            </a:srgbClr>
          </a:solidFill>
          <a:ln/>
        </p:spPr>
      </p:sp>
      <p:sp>
        <p:nvSpPr>
          <p:cNvPr id="48" name="Shape 46"/>
          <p:cNvSpPr/>
          <p:nvPr/>
        </p:nvSpPr>
        <p:spPr>
          <a:xfrm>
            <a:off x="6390102" y="4634657"/>
            <a:ext cx="135173" cy="135173"/>
          </a:xfrm>
          <a:prstGeom prst="ellipse">
            <a:avLst/>
          </a:prstGeom>
          <a:solidFill>
            <a:srgbClr val="1C7293">
              <a:alpha val="75009"/>
            </a:srgbClr>
          </a:solidFill>
          <a:ln/>
        </p:spPr>
      </p:sp>
      <p:sp>
        <p:nvSpPr>
          <p:cNvPr id="49" name="Shape 47"/>
          <p:cNvSpPr/>
          <p:nvPr/>
        </p:nvSpPr>
        <p:spPr>
          <a:xfrm>
            <a:off x="6016635" y="5455105"/>
            <a:ext cx="74578" cy="74578"/>
          </a:xfrm>
          <a:prstGeom prst="ellipse">
            <a:avLst/>
          </a:prstGeom>
          <a:solidFill>
            <a:srgbClr val="1C7293">
              <a:alpha val="36434"/>
            </a:srgbClr>
          </a:solidFill>
          <a:ln/>
        </p:spPr>
      </p:sp>
      <p:sp>
        <p:nvSpPr>
          <p:cNvPr id="50" name="Text 48"/>
          <p:cNvSpPr txBox="1"/>
          <p:nvPr/>
        </p:nvSpPr>
        <p:spPr>
          <a:xfrm>
            <a:off x="548640" y="5394960"/>
            <a:ext cx="11064240" cy="548640"/>
          </a:xfrm>
          <a:prstGeom prst="rect">
            <a:avLst/>
          </a:prstGeom>
          <a:noFill/>
          <a:ln/>
        </p:spPr>
        <p:txBody>
          <a:bodyPr wrap="square" lIns="0" tIns="0" rIns="0" bIns="0" rtlCol="0" anchor="ctr"/>
          <a:lstStyle/>
          <a:p>
            <a:pPr algn="ctr" indent="0" marL="0">
              <a:buNone/>
            </a:pPr>
            <a:r>
              <a:rPr lang="en-US" sz="1400" i="1" dirty="0">
                <a:solidFill>
                  <a:srgbClr val="6B7B84"/>
                </a:solidFill>
                <a:latin typeface="Calibri" pitchFamily="34" charset="0"/>
                <a:ea typeface="Calibri" pitchFamily="34" charset="-122"/>
                <a:cs typeface="Calibri" pitchFamily="34" charset="-120"/>
              </a:rPr>
              <a:t>Chaque nodule devient un nuage de points : coordonnées centrées et mises à l'échelle (boule unité), intensité en 4ᵉ canal.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Architectures — PointNet (teacher / student)</a:t>
            </a:r>
            <a:endParaRPr lang="en-US" sz="3200" dirty="0"/>
          </a:p>
        </p:txBody>
      </p:sp>
      <p:sp>
        <p:nvSpPr>
          <p:cNvPr id="3" name="Shape 1"/>
          <p:cNvSpPr/>
          <p:nvPr/>
        </p:nvSpPr>
        <p:spPr>
          <a:xfrm>
            <a:off x="548640" y="1554480"/>
            <a:ext cx="5394960" cy="2651760"/>
          </a:xfrm>
          <a:prstGeom prst="roundRect">
            <a:avLst>
              <a:gd name="adj" fmla="val 3103"/>
            </a:avLst>
          </a:prstGeom>
          <a:solidFill>
            <a:srgbClr val="EAF3F3"/>
          </a:solidFill>
          <a:ln/>
          <a:effectLst>
            <a:outerShdw sx="100000" sy="100000" kx="0" ky="0" algn="bl" rotWithShape="0" blurRad="88900" dist="25400" dir="5400000">
              <a:srgbClr val="9AAEB5">
                <a:alpha val="35000"/>
              </a:srgbClr>
            </a:outerShdw>
          </a:effectLst>
        </p:spPr>
      </p:sp>
      <p:sp>
        <p:nvSpPr>
          <p:cNvPr id="4" name="Shape 2"/>
          <p:cNvSpPr/>
          <p:nvPr/>
        </p:nvSpPr>
        <p:spPr>
          <a:xfrm>
            <a:off x="548640" y="1554480"/>
            <a:ext cx="5394960" cy="685800"/>
          </a:xfrm>
          <a:prstGeom prst="roundRect">
            <a:avLst>
              <a:gd name="adj" fmla="val 12000"/>
            </a:avLst>
          </a:prstGeom>
          <a:solidFill>
            <a:srgbClr val="1C7293"/>
          </a:solidFill>
          <a:ln/>
        </p:spPr>
      </p:sp>
      <p:sp>
        <p:nvSpPr>
          <p:cNvPr id="5" name="Text 3"/>
          <p:cNvSpPr txBox="1"/>
          <p:nvPr/>
        </p:nvSpPr>
        <p:spPr>
          <a:xfrm>
            <a:off x="822960" y="1554480"/>
            <a:ext cx="4846320" cy="6858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Teacher</a:t>
            </a:r>
            <a:endParaRPr lang="en-US" sz="2000" dirty="0"/>
          </a:p>
        </p:txBody>
      </p:sp>
      <p:sp>
        <p:nvSpPr>
          <p:cNvPr id="6" name="Text 4"/>
          <p:cNvSpPr txBox="1"/>
          <p:nvPr/>
        </p:nvSpPr>
        <p:spPr>
          <a:xfrm>
            <a:off x="822960" y="2423160"/>
            <a:ext cx="4846320" cy="822960"/>
          </a:xfrm>
          <a:prstGeom prst="rect">
            <a:avLst/>
          </a:prstGeom>
          <a:noFill/>
          <a:ln/>
        </p:spPr>
        <p:txBody>
          <a:bodyPr wrap="square" lIns="0" tIns="0" rIns="0" bIns="0" rtlCol="0" anchor="ctr"/>
          <a:lstStyle/>
          <a:p>
            <a:pPr indent="0" marL="0">
              <a:buNone/>
            </a:pPr>
            <a:r>
              <a:rPr lang="en-US" sz="4000" b="1" dirty="0">
                <a:solidFill>
                  <a:srgbClr val="1C7293"/>
                </a:solidFill>
                <a:latin typeface="Cambria" pitchFamily="34" charset="0"/>
                <a:ea typeface="Cambria" pitchFamily="34" charset="-122"/>
                <a:cs typeface="Cambria" pitchFamily="34" charset="-120"/>
              </a:rPr>
              <a:t>0.8 M params</a:t>
            </a:r>
            <a:endParaRPr lang="en-US" sz="4000" dirty="0"/>
          </a:p>
        </p:txBody>
      </p:sp>
      <p:sp>
        <p:nvSpPr>
          <p:cNvPr id="7" name="Text 5"/>
          <p:cNvSpPr txBox="1"/>
          <p:nvPr/>
        </p:nvSpPr>
        <p:spPr>
          <a:xfrm>
            <a:off x="822960" y="3291840"/>
            <a:ext cx="4846320" cy="822960"/>
          </a:xfrm>
          <a:prstGeom prst="rect">
            <a:avLst/>
          </a:prstGeom>
          <a:noFill/>
          <a:ln/>
        </p:spPr>
        <p:txBody>
          <a:bodyPr wrap="square" lIns="0" tIns="0" rIns="0" bIns="0" rtlCol="0" anchor="ctr"/>
          <a:lstStyle/>
          <a:p>
            <a:pPr indent="0" marL="0">
              <a:lnSpc>
                <a:spcPct val="105000"/>
              </a:lnSpc>
              <a:buNone/>
            </a:pPr>
            <a:r>
              <a:rPr lang="en-US" sz="1400" dirty="0">
                <a:solidFill>
                  <a:srgbClr val="16323D"/>
                </a:solidFill>
                <a:latin typeface="Calibri" pitchFamily="34" charset="0"/>
                <a:ea typeface="Calibri" pitchFamily="34" charset="-122"/>
                <a:cs typeface="Calibri" pitchFamily="34" charset="-120"/>
              </a:rPr>
              <a:t>emb 1024 · haute capacité ·</a:t>
            </a:r>
            <a:endParaRPr lang="en-US" sz="1400" dirty="0"/>
          </a:p>
          <a:p>
            <a:pPr indent="0" marL="0">
              <a:lnSpc>
                <a:spcPct val="105000"/>
              </a:lnSpc>
              <a:buNone/>
            </a:pPr>
            <a:r>
              <a:rPr lang="en-US" sz="1400" dirty="0">
                <a:solidFill>
                  <a:srgbClr val="16323D"/>
                </a:solidFill>
                <a:latin typeface="Calibri" pitchFamily="34" charset="0"/>
                <a:ea typeface="Calibri" pitchFamily="34" charset="-122"/>
                <a:cs typeface="Calibri" pitchFamily="34" charset="-120"/>
              </a:rPr>
              <a:t>entraîné sur nuages denses</a:t>
            </a:r>
            <a:endParaRPr lang="en-US" sz="1400" dirty="0"/>
          </a:p>
        </p:txBody>
      </p:sp>
      <p:sp>
        <p:nvSpPr>
          <p:cNvPr id="8" name="Shape 6"/>
          <p:cNvSpPr/>
          <p:nvPr/>
        </p:nvSpPr>
        <p:spPr>
          <a:xfrm>
            <a:off x="6245352" y="1554480"/>
            <a:ext cx="5394960" cy="2651760"/>
          </a:xfrm>
          <a:prstGeom prst="roundRect">
            <a:avLst>
              <a:gd name="adj" fmla="val 3103"/>
            </a:avLst>
          </a:prstGeom>
          <a:solidFill>
            <a:srgbClr val="EAF3F3"/>
          </a:solidFill>
          <a:ln/>
          <a:effectLst>
            <a:outerShdw sx="100000" sy="100000" kx="0" ky="0" algn="bl" rotWithShape="0" blurRad="88900" dist="25400" dir="5400000">
              <a:srgbClr val="9AAEB5">
                <a:alpha val="35000"/>
              </a:srgbClr>
            </a:outerShdw>
          </a:effectLst>
        </p:spPr>
      </p:sp>
      <p:sp>
        <p:nvSpPr>
          <p:cNvPr id="9" name="Shape 7"/>
          <p:cNvSpPr/>
          <p:nvPr/>
        </p:nvSpPr>
        <p:spPr>
          <a:xfrm>
            <a:off x="6245352" y="1554480"/>
            <a:ext cx="5394960" cy="685800"/>
          </a:xfrm>
          <a:prstGeom prst="roundRect">
            <a:avLst>
              <a:gd name="adj" fmla="val 12000"/>
            </a:avLst>
          </a:prstGeom>
          <a:solidFill>
            <a:srgbClr val="E76F51"/>
          </a:solidFill>
          <a:ln/>
        </p:spPr>
      </p:sp>
      <p:sp>
        <p:nvSpPr>
          <p:cNvPr id="10" name="Text 8"/>
          <p:cNvSpPr txBox="1"/>
          <p:nvPr/>
        </p:nvSpPr>
        <p:spPr>
          <a:xfrm>
            <a:off x="6519672" y="1554480"/>
            <a:ext cx="4846320" cy="6858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Student</a:t>
            </a:r>
            <a:endParaRPr lang="en-US" sz="2000" dirty="0"/>
          </a:p>
        </p:txBody>
      </p:sp>
      <p:sp>
        <p:nvSpPr>
          <p:cNvPr id="11" name="Text 9"/>
          <p:cNvSpPr txBox="1"/>
          <p:nvPr/>
        </p:nvSpPr>
        <p:spPr>
          <a:xfrm>
            <a:off x="6519672" y="2423160"/>
            <a:ext cx="4846320" cy="822960"/>
          </a:xfrm>
          <a:prstGeom prst="rect">
            <a:avLst/>
          </a:prstGeom>
          <a:noFill/>
          <a:ln/>
        </p:spPr>
        <p:txBody>
          <a:bodyPr wrap="square" lIns="0" tIns="0" rIns="0" bIns="0" rtlCol="0" anchor="ctr"/>
          <a:lstStyle/>
          <a:p>
            <a:pPr indent="0" marL="0">
              <a:buNone/>
            </a:pPr>
            <a:r>
              <a:rPr lang="en-US" sz="4000" b="1" dirty="0">
                <a:solidFill>
                  <a:srgbClr val="E76F51"/>
                </a:solidFill>
                <a:latin typeface="Cambria" pitchFamily="34" charset="0"/>
                <a:ea typeface="Cambria" pitchFamily="34" charset="-122"/>
                <a:cs typeface="Cambria" pitchFamily="34" charset="-120"/>
              </a:rPr>
              <a:t>54 k params</a:t>
            </a:r>
            <a:endParaRPr lang="en-US" sz="4000" dirty="0"/>
          </a:p>
        </p:txBody>
      </p:sp>
      <p:sp>
        <p:nvSpPr>
          <p:cNvPr id="12" name="Text 10"/>
          <p:cNvSpPr txBox="1"/>
          <p:nvPr/>
        </p:nvSpPr>
        <p:spPr>
          <a:xfrm>
            <a:off x="6519672" y="3291840"/>
            <a:ext cx="4846320" cy="822960"/>
          </a:xfrm>
          <a:prstGeom prst="rect">
            <a:avLst/>
          </a:prstGeom>
          <a:noFill/>
          <a:ln/>
        </p:spPr>
        <p:txBody>
          <a:bodyPr wrap="square" lIns="0" tIns="0" rIns="0" bIns="0" rtlCol="0" anchor="ctr"/>
          <a:lstStyle/>
          <a:p>
            <a:pPr indent="0" marL="0">
              <a:lnSpc>
                <a:spcPct val="105000"/>
              </a:lnSpc>
              <a:buNone/>
            </a:pPr>
            <a:r>
              <a:rPr lang="en-US" sz="1400" dirty="0">
                <a:solidFill>
                  <a:srgbClr val="16323D"/>
                </a:solidFill>
                <a:latin typeface="Calibri" pitchFamily="34" charset="0"/>
                <a:ea typeface="Calibri" pitchFamily="34" charset="-122"/>
                <a:cs typeface="Calibri" pitchFamily="34" charset="-120"/>
              </a:rPr>
              <a:t>emb 256 · ~15× plus léger ·</a:t>
            </a:r>
            <a:endParaRPr lang="en-US" sz="1400" dirty="0"/>
          </a:p>
          <a:p>
            <a:pPr indent="0" marL="0">
              <a:lnSpc>
                <a:spcPct val="105000"/>
              </a:lnSpc>
              <a:buNone/>
            </a:pPr>
            <a:r>
              <a:rPr lang="en-US" sz="1400" dirty="0">
                <a:solidFill>
                  <a:srgbClr val="16323D"/>
                </a:solidFill>
                <a:latin typeface="Calibri" pitchFamily="34" charset="0"/>
                <a:ea typeface="Calibri" pitchFamily="34" charset="-122"/>
                <a:cs typeface="Calibri" pitchFamily="34" charset="-120"/>
              </a:rPr>
              <a:t>le modèle qu'on veut rendre robuste</a:t>
            </a:r>
            <a:endParaRPr lang="en-US" sz="1400" dirty="0"/>
          </a:p>
        </p:txBody>
      </p:sp>
      <p:sp>
        <p:nvSpPr>
          <p:cNvPr id="13" name="Text 11"/>
          <p:cNvSpPr txBox="1"/>
          <p:nvPr/>
        </p:nvSpPr>
        <p:spPr>
          <a:xfrm>
            <a:off x="548640" y="4434840"/>
            <a:ext cx="11064240" cy="1463040"/>
          </a:xfrm>
          <a:prstGeom prst="rect">
            <a:avLst/>
          </a:prstGeom>
          <a:noFill/>
          <a:ln/>
        </p:spPr>
        <p:txBody>
          <a:bodyPr wrap="square" lIns="0" tIns="0" rIns="0" bIns="0" rtlCol="0" anchor="ctr"/>
          <a:lstStyle/>
          <a:p>
            <a:pPr indent="0" marL="0">
              <a:lnSpc>
                <a:spcPct val="108000"/>
              </a:lnSpc>
              <a:buNone/>
            </a:pPr>
            <a:r>
              <a:rPr lang="en-US" sz="1500" b="1" dirty="0">
                <a:solidFill>
                  <a:srgbClr val="0B3C5D"/>
                </a:solidFill>
                <a:latin typeface="Calibri" pitchFamily="34" charset="0"/>
                <a:ea typeface="Calibri" pitchFamily="34" charset="-122"/>
                <a:cs typeface="Calibri" pitchFamily="34" charset="-120"/>
              </a:rPr>
              <a:t>Pourquoi PointNet : </a:t>
            </a:r>
            <a:pPr indent="0" marL="0">
              <a:lnSpc>
                <a:spcPct val="108000"/>
              </a:lnSpc>
              <a:buNone/>
            </a:pPr>
            <a:r>
              <a:rPr lang="en-US" sz="1500" dirty="0">
                <a:solidFill>
                  <a:srgbClr val="16323D"/>
                </a:solidFill>
                <a:latin typeface="Calibri" pitchFamily="34" charset="0"/>
                <a:ea typeface="Calibri" pitchFamily="34" charset="-122"/>
                <a:cs typeface="Calibri" pitchFamily="34" charset="-120"/>
              </a:rPr>
              <a:t>classifieur canonique, invariant par permutation ; son max-pooling global unique rend la robustesse au sous-échantillonnage facile à analyser ; assez léger pour teacher + student + variantes KD. (DGCNN / Point Transformer = extensions plus lourdes possibles.)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Protocole — robustesse au sous-échantillonnage</a:t>
            </a:r>
            <a:endParaRPr lang="en-US" sz="3200" dirty="0"/>
          </a:p>
        </p:txBody>
      </p:sp>
      <p:sp>
        <p:nvSpPr>
          <p:cNvPr id="3" name="Shape 1"/>
          <p:cNvSpPr/>
          <p:nvPr/>
        </p:nvSpPr>
        <p:spPr>
          <a:xfrm>
            <a:off x="640080" y="1554480"/>
            <a:ext cx="548640" cy="548640"/>
          </a:xfrm>
          <a:prstGeom prst="ellipse">
            <a:avLst/>
          </a:prstGeom>
          <a:solidFill>
            <a:srgbClr val="0B3C5D"/>
          </a:solidFill>
          <a:ln/>
        </p:spPr>
      </p:sp>
      <p:sp>
        <p:nvSpPr>
          <p:cNvPr id="4" name="Text 2"/>
          <p:cNvSpPr txBox="1"/>
          <p:nvPr/>
        </p:nvSpPr>
        <p:spPr>
          <a:xfrm>
            <a:off x="640080" y="1554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1371600" y="1554480"/>
            <a:ext cx="6766560" cy="548640"/>
          </a:xfrm>
          <a:prstGeom prst="rect">
            <a:avLst/>
          </a:prstGeom>
          <a:noFill/>
          <a:ln/>
        </p:spPr>
        <p:txBody>
          <a:bodyPr wrap="square" lIns="0" tIns="0" rIns="0" bIns="0" rtlCol="0" anchor="ctr"/>
          <a:lstStyle/>
          <a:p>
            <a:pPr indent="0" marL="0">
              <a:buNone/>
            </a:pPr>
            <a:r>
              <a:rPr lang="en-US" sz="1500" dirty="0">
                <a:solidFill>
                  <a:srgbClr val="16323D"/>
                </a:solidFill>
                <a:latin typeface="Calibri" pitchFamily="34" charset="0"/>
                <a:ea typeface="Calibri" pitchFamily="34" charset="-122"/>
                <a:cs typeface="Calibri" pitchFamily="34" charset="-120"/>
              </a:rPr>
              <a:t>Test : garder N points aléatoires, N ∈ {1024, 512, … , 16} ; AUC moyennée sur 5 tirages</a:t>
            </a:r>
            <a:endParaRPr lang="en-US" sz="1500" dirty="0"/>
          </a:p>
        </p:txBody>
      </p:sp>
      <p:sp>
        <p:nvSpPr>
          <p:cNvPr id="6" name="Shape 4"/>
          <p:cNvSpPr/>
          <p:nvPr/>
        </p:nvSpPr>
        <p:spPr>
          <a:xfrm>
            <a:off x="640080" y="2395728"/>
            <a:ext cx="548640" cy="548640"/>
          </a:xfrm>
          <a:prstGeom prst="ellipse">
            <a:avLst/>
          </a:prstGeom>
          <a:solidFill>
            <a:srgbClr val="0B3C5D"/>
          </a:solidFill>
          <a:ln/>
        </p:spPr>
      </p:sp>
      <p:sp>
        <p:nvSpPr>
          <p:cNvPr id="7" name="Text 5"/>
          <p:cNvSpPr txBox="1"/>
          <p:nvPr/>
        </p:nvSpPr>
        <p:spPr>
          <a:xfrm>
            <a:off x="640080" y="239572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8" name="Text 6"/>
          <p:cNvSpPr txBox="1"/>
          <p:nvPr/>
        </p:nvSpPr>
        <p:spPr>
          <a:xfrm>
            <a:off x="1371600" y="2395728"/>
            <a:ext cx="6766560" cy="548640"/>
          </a:xfrm>
          <a:prstGeom prst="rect">
            <a:avLst/>
          </a:prstGeom>
          <a:noFill/>
          <a:ln/>
        </p:spPr>
        <p:txBody>
          <a:bodyPr wrap="square" lIns="0" tIns="0" rIns="0" bIns="0" rtlCol="0" anchor="ctr"/>
          <a:lstStyle/>
          <a:p>
            <a:pPr indent="0" marL="0">
              <a:buNone/>
            </a:pPr>
            <a:r>
              <a:rPr lang="en-US" sz="1500" dirty="0">
                <a:solidFill>
                  <a:srgbClr val="16323D"/>
                </a:solidFill>
                <a:latin typeface="Calibri" pitchFamily="34" charset="0"/>
                <a:ea typeface="Calibri" pitchFamily="34" charset="-122"/>
                <a:cs typeface="Calibri" pitchFamily="34" charset="-120"/>
              </a:rPr>
              <a:t>Chaque configuration entraînée sur 5 seeds → moyenne ± écart-type, IC 95 % bootstrap</a:t>
            </a:r>
            <a:endParaRPr lang="en-US" sz="1500" dirty="0"/>
          </a:p>
        </p:txBody>
      </p:sp>
      <p:sp>
        <p:nvSpPr>
          <p:cNvPr id="9" name="Shape 7"/>
          <p:cNvSpPr/>
          <p:nvPr/>
        </p:nvSpPr>
        <p:spPr>
          <a:xfrm>
            <a:off x="640080" y="3236976"/>
            <a:ext cx="548640" cy="548640"/>
          </a:xfrm>
          <a:prstGeom prst="ellipse">
            <a:avLst/>
          </a:prstGeom>
          <a:solidFill>
            <a:srgbClr val="0B3C5D"/>
          </a:solidFill>
          <a:ln/>
        </p:spPr>
      </p:sp>
      <p:sp>
        <p:nvSpPr>
          <p:cNvPr id="10" name="Text 8"/>
          <p:cNvSpPr txBox="1"/>
          <p:nvPr/>
        </p:nvSpPr>
        <p:spPr>
          <a:xfrm>
            <a:off x="640080" y="323697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1" name="Text 9"/>
          <p:cNvSpPr txBox="1"/>
          <p:nvPr/>
        </p:nvSpPr>
        <p:spPr>
          <a:xfrm>
            <a:off x="1371600" y="3236976"/>
            <a:ext cx="6766560" cy="548640"/>
          </a:xfrm>
          <a:prstGeom prst="rect">
            <a:avLst/>
          </a:prstGeom>
          <a:noFill/>
          <a:ln/>
        </p:spPr>
        <p:txBody>
          <a:bodyPr wrap="square" lIns="0" tIns="0" rIns="0" bIns="0" rtlCol="0" anchor="ctr"/>
          <a:lstStyle/>
          <a:p>
            <a:pPr indent="0" marL="0">
              <a:buNone/>
            </a:pPr>
            <a:r>
              <a:rPr lang="en-US" sz="1500" dirty="0">
                <a:solidFill>
                  <a:srgbClr val="16323D"/>
                </a:solidFill>
                <a:latin typeface="Calibri" pitchFamily="34" charset="0"/>
                <a:ea typeface="Calibri" pitchFamily="34" charset="-122"/>
                <a:cs typeface="Calibri" pitchFamily="34" charset="-120"/>
              </a:rPr>
              <a:t>Comparaisons appariées (même seed = même teacher) : Δ AUC, t-test, seeds gagnées</a:t>
            </a:r>
            <a:endParaRPr lang="en-US" sz="1500" dirty="0"/>
          </a:p>
        </p:txBody>
      </p:sp>
      <p:sp>
        <p:nvSpPr>
          <p:cNvPr id="12" name="Shape 10"/>
          <p:cNvSpPr/>
          <p:nvPr/>
        </p:nvSpPr>
        <p:spPr>
          <a:xfrm>
            <a:off x="640080" y="4078224"/>
            <a:ext cx="548640" cy="548640"/>
          </a:xfrm>
          <a:prstGeom prst="ellipse">
            <a:avLst/>
          </a:prstGeom>
          <a:solidFill>
            <a:srgbClr val="0B3C5D"/>
          </a:solidFill>
          <a:ln/>
        </p:spPr>
      </p:sp>
      <p:sp>
        <p:nvSpPr>
          <p:cNvPr id="13" name="Text 11"/>
          <p:cNvSpPr txBox="1"/>
          <p:nvPr/>
        </p:nvSpPr>
        <p:spPr>
          <a:xfrm>
            <a:off x="640080" y="407822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4" name="Text 12"/>
          <p:cNvSpPr txBox="1"/>
          <p:nvPr/>
        </p:nvSpPr>
        <p:spPr>
          <a:xfrm>
            <a:off x="1371600" y="4078224"/>
            <a:ext cx="6766560" cy="548640"/>
          </a:xfrm>
          <a:prstGeom prst="rect">
            <a:avLst/>
          </a:prstGeom>
          <a:noFill/>
          <a:ln/>
        </p:spPr>
        <p:txBody>
          <a:bodyPr wrap="square" lIns="0" tIns="0" rIns="0" bIns="0" rtlCol="0" anchor="ctr"/>
          <a:lstStyle/>
          <a:p>
            <a:pPr indent="0" marL="0">
              <a:buNone/>
            </a:pPr>
            <a:r>
              <a:rPr lang="en-US" sz="1500" dirty="0">
                <a:solidFill>
                  <a:srgbClr val="16323D"/>
                </a:solidFill>
                <a:latin typeface="Calibri" pitchFamily="34" charset="0"/>
                <a:ea typeface="Calibri" pitchFamily="34" charset="-122"/>
                <a:cs typeface="Calibri" pitchFamily="34" charset="-120"/>
              </a:rPr>
              <a:t>(T, α) choisis sur la validation uniquement ; même règle de sélection pour toutes les variantes</a:t>
            </a:r>
            <a:endParaRPr lang="en-US" sz="1500" dirty="0"/>
          </a:p>
        </p:txBody>
      </p:sp>
      <p:sp>
        <p:nvSpPr>
          <p:cNvPr id="15" name="Shape 13"/>
          <p:cNvSpPr/>
          <p:nvPr/>
        </p:nvSpPr>
        <p:spPr>
          <a:xfrm>
            <a:off x="8458200" y="2011680"/>
            <a:ext cx="1051560" cy="1051560"/>
          </a:xfrm>
          <a:prstGeom prst="roundRect">
            <a:avLst>
              <a:gd name="adj" fmla="val 7826"/>
            </a:avLst>
          </a:prstGeom>
          <a:solidFill>
            <a:srgbClr val="F2F6F7"/>
          </a:solidFill>
          <a:ln/>
          <a:effectLst>
            <a:outerShdw sx="100000" sy="100000" kx="0" ky="0" algn="bl" rotWithShape="0" blurRad="88900" dist="25400" dir="5400000">
              <a:srgbClr val="9AAEB5">
                <a:alpha val="35000"/>
              </a:srgbClr>
            </a:outerShdw>
          </a:effectLst>
        </p:spPr>
      </p:sp>
      <p:sp>
        <p:nvSpPr>
          <p:cNvPr id="16" name="Shape 14"/>
          <p:cNvSpPr/>
          <p:nvPr/>
        </p:nvSpPr>
        <p:spPr>
          <a:xfrm>
            <a:off x="9250725" y="2222618"/>
            <a:ext cx="48134" cy="48134"/>
          </a:xfrm>
          <a:prstGeom prst="ellipse">
            <a:avLst/>
          </a:prstGeom>
          <a:solidFill>
            <a:srgbClr val="1C7293">
              <a:alpha val="51396"/>
            </a:srgbClr>
          </a:solidFill>
          <a:ln/>
        </p:spPr>
      </p:sp>
      <p:sp>
        <p:nvSpPr>
          <p:cNvPr id="17" name="Shape 15"/>
          <p:cNvSpPr/>
          <p:nvPr/>
        </p:nvSpPr>
        <p:spPr>
          <a:xfrm>
            <a:off x="9052953" y="2586616"/>
            <a:ext cx="86139" cy="86139"/>
          </a:xfrm>
          <a:prstGeom prst="ellipse">
            <a:avLst/>
          </a:prstGeom>
          <a:solidFill>
            <a:srgbClr val="1C7293">
              <a:alpha val="48586"/>
            </a:srgbClr>
          </a:solidFill>
          <a:ln/>
        </p:spPr>
      </p:sp>
      <p:sp>
        <p:nvSpPr>
          <p:cNvPr id="18" name="Shape 16"/>
          <p:cNvSpPr/>
          <p:nvPr/>
        </p:nvSpPr>
        <p:spPr>
          <a:xfrm>
            <a:off x="9218247" y="2680789"/>
            <a:ext cx="84765" cy="84765"/>
          </a:xfrm>
          <a:prstGeom prst="ellipse">
            <a:avLst/>
          </a:prstGeom>
          <a:solidFill>
            <a:srgbClr val="1C7293">
              <a:alpha val="67978"/>
            </a:srgbClr>
          </a:solidFill>
          <a:ln/>
        </p:spPr>
      </p:sp>
      <p:sp>
        <p:nvSpPr>
          <p:cNvPr id="19" name="Shape 17"/>
          <p:cNvSpPr/>
          <p:nvPr/>
        </p:nvSpPr>
        <p:spPr>
          <a:xfrm>
            <a:off x="8705113" y="2688843"/>
            <a:ext cx="84698" cy="84698"/>
          </a:xfrm>
          <a:prstGeom prst="ellipse">
            <a:avLst/>
          </a:prstGeom>
          <a:solidFill>
            <a:srgbClr val="1C7293">
              <a:alpha val="50496"/>
            </a:srgbClr>
          </a:solidFill>
          <a:ln/>
        </p:spPr>
      </p:sp>
      <p:sp>
        <p:nvSpPr>
          <p:cNvPr id="20" name="Shape 18"/>
          <p:cNvSpPr/>
          <p:nvPr/>
        </p:nvSpPr>
        <p:spPr>
          <a:xfrm>
            <a:off x="9264459" y="2916377"/>
            <a:ext cx="104373" cy="104373"/>
          </a:xfrm>
          <a:prstGeom prst="ellipse">
            <a:avLst/>
          </a:prstGeom>
          <a:solidFill>
            <a:srgbClr val="1C7293">
              <a:alpha val="43557"/>
            </a:srgbClr>
          </a:solidFill>
          <a:ln/>
        </p:spPr>
      </p:sp>
      <p:sp>
        <p:nvSpPr>
          <p:cNvPr id="21" name="Shape 19"/>
          <p:cNvSpPr/>
          <p:nvPr/>
        </p:nvSpPr>
        <p:spPr>
          <a:xfrm>
            <a:off x="9035851" y="2417292"/>
            <a:ext cx="60484" cy="60484"/>
          </a:xfrm>
          <a:prstGeom prst="ellipse">
            <a:avLst/>
          </a:prstGeom>
          <a:solidFill>
            <a:srgbClr val="1C7293">
              <a:alpha val="67831"/>
            </a:srgbClr>
          </a:solidFill>
          <a:ln/>
        </p:spPr>
      </p:sp>
      <p:sp>
        <p:nvSpPr>
          <p:cNvPr id="22" name="Shape 20"/>
          <p:cNvSpPr/>
          <p:nvPr/>
        </p:nvSpPr>
        <p:spPr>
          <a:xfrm>
            <a:off x="9306742" y="2259930"/>
            <a:ext cx="74952" cy="74952"/>
          </a:xfrm>
          <a:prstGeom prst="ellipse">
            <a:avLst/>
          </a:prstGeom>
          <a:solidFill>
            <a:srgbClr val="1C7293">
              <a:alpha val="43899"/>
            </a:srgbClr>
          </a:solidFill>
          <a:ln/>
        </p:spPr>
      </p:sp>
      <p:sp>
        <p:nvSpPr>
          <p:cNvPr id="23" name="Shape 21"/>
          <p:cNvSpPr/>
          <p:nvPr/>
        </p:nvSpPr>
        <p:spPr>
          <a:xfrm>
            <a:off x="9222850" y="2273629"/>
            <a:ext cx="62361" cy="62361"/>
          </a:xfrm>
          <a:prstGeom prst="ellipse">
            <a:avLst/>
          </a:prstGeom>
          <a:solidFill>
            <a:srgbClr val="1C7293">
              <a:alpha val="55018"/>
            </a:srgbClr>
          </a:solidFill>
          <a:ln/>
        </p:spPr>
      </p:sp>
      <p:sp>
        <p:nvSpPr>
          <p:cNvPr id="24" name="Shape 22"/>
          <p:cNvSpPr/>
          <p:nvPr/>
        </p:nvSpPr>
        <p:spPr>
          <a:xfrm>
            <a:off x="8959929" y="2337492"/>
            <a:ext cx="60062" cy="60062"/>
          </a:xfrm>
          <a:prstGeom prst="ellipse">
            <a:avLst/>
          </a:prstGeom>
          <a:solidFill>
            <a:srgbClr val="1C7293">
              <a:alpha val="43709"/>
            </a:srgbClr>
          </a:solidFill>
          <a:ln/>
        </p:spPr>
      </p:sp>
      <p:sp>
        <p:nvSpPr>
          <p:cNvPr id="25" name="Shape 23"/>
          <p:cNvSpPr/>
          <p:nvPr/>
        </p:nvSpPr>
        <p:spPr>
          <a:xfrm>
            <a:off x="9049916" y="2579688"/>
            <a:ext cx="54898" cy="54898"/>
          </a:xfrm>
          <a:prstGeom prst="ellipse">
            <a:avLst/>
          </a:prstGeom>
          <a:solidFill>
            <a:srgbClr val="1C7293">
              <a:alpha val="41272"/>
            </a:srgbClr>
          </a:solidFill>
          <a:ln/>
        </p:spPr>
      </p:sp>
      <p:sp>
        <p:nvSpPr>
          <p:cNvPr id="26" name="Shape 24"/>
          <p:cNvSpPr/>
          <p:nvPr/>
        </p:nvSpPr>
        <p:spPr>
          <a:xfrm>
            <a:off x="9286484" y="2164174"/>
            <a:ext cx="64771" cy="64771"/>
          </a:xfrm>
          <a:prstGeom prst="ellipse">
            <a:avLst/>
          </a:prstGeom>
          <a:solidFill>
            <a:srgbClr val="1C7293">
              <a:alpha val="52822"/>
            </a:srgbClr>
          </a:solidFill>
          <a:ln/>
        </p:spPr>
      </p:sp>
      <p:sp>
        <p:nvSpPr>
          <p:cNvPr id="27" name="Shape 25"/>
          <p:cNvSpPr/>
          <p:nvPr/>
        </p:nvSpPr>
        <p:spPr>
          <a:xfrm>
            <a:off x="8654384" y="2313007"/>
            <a:ext cx="70815" cy="70815"/>
          </a:xfrm>
          <a:prstGeom prst="ellipse">
            <a:avLst/>
          </a:prstGeom>
          <a:solidFill>
            <a:srgbClr val="1C7293">
              <a:alpha val="67128"/>
            </a:srgbClr>
          </a:solidFill>
          <a:ln/>
        </p:spPr>
      </p:sp>
      <p:sp>
        <p:nvSpPr>
          <p:cNvPr id="28" name="Shape 26"/>
          <p:cNvSpPr/>
          <p:nvPr/>
        </p:nvSpPr>
        <p:spPr>
          <a:xfrm>
            <a:off x="8797105" y="2898696"/>
            <a:ext cx="60068" cy="60068"/>
          </a:xfrm>
          <a:prstGeom prst="ellipse">
            <a:avLst/>
          </a:prstGeom>
          <a:solidFill>
            <a:srgbClr val="1C7293">
              <a:alpha val="45933"/>
            </a:srgbClr>
          </a:solidFill>
          <a:ln/>
        </p:spPr>
      </p:sp>
      <p:sp>
        <p:nvSpPr>
          <p:cNvPr id="29" name="Shape 27"/>
          <p:cNvSpPr/>
          <p:nvPr/>
        </p:nvSpPr>
        <p:spPr>
          <a:xfrm>
            <a:off x="9210520" y="2368970"/>
            <a:ext cx="52574" cy="52574"/>
          </a:xfrm>
          <a:prstGeom prst="ellipse">
            <a:avLst/>
          </a:prstGeom>
          <a:solidFill>
            <a:srgbClr val="1C7293">
              <a:alpha val="79344"/>
            </a:srgbClr>
          </a:solidFill>
          <a:ln/>
        </p:spPr>
      </p:sp>
      <p:sp>
        <p:nvSpPr>
          <p:cNvPr id="30" name="Shape 28"/>
          <p:cNvSpPr/>
          <p:nvPr/>
        </p:nvSpPr>
        <p:spPr>
          <a:xfrm>
            <a:off x="8780901" y="2437692"/>
            <a:ext cx="37972" cy="37972"/>
          </a:xfrm>
          <a:prstGeom prst="ellipse">
            <a:avLst/>
          </a:prstGeom>
          <a:solidFill>
            <a:srgbClr val="1C7293">
              <a:alpha val="70415"/>
            </a:srgbClr>
          </a:solidFill>
          <a:ln/>
        </p:spPr>
      </p:sp>
      <p:sp>
        <p:nvSpPr>
          <p:cNvPr id="31" name="Shape 29"/>
          <p:cNvSpPr/>
          <p:nvPr/>
        </p:nvSpPr>
        <p:spPr>
          <a:xfrm>
            <a:off x="9131595" y="2586461"/>
            <a:ext cx="98086" cy="98086"/>
          </a:xfrm>
          <a:prstGeom prst="ellipse">
            <a:avLst/>
          </a:prstGeom>
          <a:solidFill>
            <a:srgbClr val="1C7293">
              <a:alpha val="63501"/>
            </a:srgbClr>
          </a:solidFill>
          <a:ln/>
        </p:spPr>
      </p:sp>
      <p:sp>
        <p:nvSpPr>
          <p:cNvPr id="32" name="Shape 30"/>
          <p:cNvSpPr/>
          <p:nvPr/>
        </p:nvSpPr>
        <p:spPr>
          <a:xfrm>
            <a:off x="9288635" y="2319141"/>
            <a:ext cx="74628" cy="74628"/>
          </a:xfrm>
          <a:prstGeom prst="ellipse">
            <a:avLst/>
          </a:prstGeom>
          <a:solidFill>
            <a:srgbClr val="1C7293">
              <a:alpha val="32060"/>
            </a:srgbClr>
          </a:solidFill>
          <a:ln/>
        </p:spPr>
      </p:sp>
      <p:sp>
        <p:nvSpPr>
          <p:cNvPr id="33" name="Shape 31"/>
          <p:cNvSpPr/>
          <p:nvPr/>
        </p:nvSpPr>
        <p:spPr>
          <a:xfrm>
            <a:off x="8783819" y="2333565"/>
            <a:ext cx="39127" cy="39127"/>
          </a:xfrm>
          <a:prstGeom prst="ellipse">
            <a:avLst/>
          </a:prstGeom>
          <a:solidFill>
            <a:srgbClr val="1C7293">
              <a:alpha val="43939"/>
            </a:srgbClr>
          </a:solidFill>
          <a:ln/>
        </p:spPr>
      </p:sp>
      <p:sp>
        <p:nvSpPr>
          <p:cNvPr id="34" name="Shape 32"/>
          <p:cNvSpPr/>
          <p:nvPr/>
        </p:nvSpPr>
        <p:spPr>
          <a:xfrm>
            <a:off x="8620847" y="2398719"/>
            <a:ext cx="88566" cy="88566"/>
          </a:xfrm>
          <a:prstGeom prst="ellipse">
            <a:avLst/>
          </a:prstGeom>
          <a:solidFill>
            <a:srgbClr val="1C7293">
              <a:alpha val="44416"/>
            </a:srgbClr>
          </a:solidFill>
          <a:ln/>
        </p:spPr>
      </p:sp>
      <p:sp>
        <p:nvSpPr>
          <p:cNvPr id="35" name="Shape 33"/>
          <p:cNvSpPr/>
          <p:nvPr/>
        </p:nvSpPr>
        <p:spPr>
          <a:xfrm>
            <a:off x="8778065" y="2728965"/>
            <a:ext cx="73106" cy="73106"/>
          </a:xfrm>
          <a:prstGeom prst="ellipse">
            <a:avLst/>
          </a:prstGeom>
          <a:solidFill>
            <a:srgbClr val="1C7293">
              <a:alpha val="67763"/>
            </a:srgbClr>
          </a:solidFill>
          <a:ln/>
        </p:spPr>
      </p:sp>
      <p:sp>
        <p:nvSpPr>
          <p:cNvPr id="36" name="Shape 34"/>
          <p:cNvSpPr/>
          <p:nvPr/>
        </p:nvSpPr>
        <p:spPr>
          <a:xfrm>
            <a:off x="8780269" y="2771250"/>
            <a:ext cx="57072" cy="57072"/>
          </a:xfrm>
          <a:prstGeom prst="ellipse">
            <a:avLst/>
          </a:prstGeom>
          <a:solidFill>
            <a:srgbClr val="1C7293">
              <a:alpha val="70745"/>
            </a:srgbClr>
          </a:solidFill>
          <a:ln/>
        </p:spPr>
      </p:sp>
      <p:sp>
        <p:nvSpPr>
          <p:cNvPr id="37" name="Shape 35"/>
          <p:cNvSpPr/>
          <p:nvPr/>
        </p:nvSpPr>
        <p:spPr>
          <a:xfrm>
            <a:off x="9281784" y="2823825"/>
            <a:ext cx="61174" cy="61174"/>
          </a:xfrm>
          <a:prstGeom prst="ellipse">
            <a:avLst/>
          </a:prstGeom>
          <a:solidFill>
            <a:srgbClr val="1C7293">
              <a:alpha val="55583"/>
            </a:srgbClr>
          </a:solidFill>
          <a:ln/>
        </p:spPr>
      </p:sp>
      <p:sp>
        <p:nvSpPr>
          <p:cNvPr id="38" name="Shape 36"/>
          <p:cNvSpPr/>
          <p:nvPr/>
        </p:nvSpPr>
        <p:spPr>
          <a:xfrm>
            <a:off x="8985469" y="2361123"/>
            <a:ext cx="97151" cy="97151"/>
          </a:xfrm>
          <a:prstGeom prst="ellipse">
            <a:avLst/>
          </a:prstGeom>
          <a:solidFill>
            <a:srgbClr val="1C7293">
              <a:alpha val="37166"/>
            </a:srgbClr>
          </a:solidFill>
          <a:ln/>
        </p:spPr>
      </p:sp>
      <p:sp>
        <p:nvSpPr>
          <p:cNvPr id="39" name="Shape 37"/>
          <p:cNvSpPr/>
          <p:nvPr/>
        </p:nvSpPr>
        <p:spPr>
          <a:xfrm>
            <a:off x="9278442" y="2692735"/>
            <a:ext cx="44197" cy="44197"/>
          </a:xfrm>
          <a:prstGeom prst="ellipse">
            <a:avLst/>
          </a:prstGeom>
          <a:solidFill>
            <a:srgbClr val="1C7293">
              <a:alpha val="70989"/>
            </a:srgbClr>
          </a:solidFill>
          <a:ln/>
        </p:spPr>
      </p:sp>
      <p:sp>
        <p:nvSpPr>
          <p:cNvPr id="40" name="Shape 38"/>
          <p:cNvSpPr/>
          <p:nvPr/>
        </p:nvSpPr>
        <p:spPr>
          <a:xfrm>
            <a:off x="9369199" y="2484170"/>
            <a:ext cx="78813" cy="78813"/>
          </a:xfrm>
          <a:prstGeom prst="ellipse">
            <a:avLst/>
          </a:prstGeom>
          <a:solidFill>
            <a:srgbClr val="1C7293">
              <a:alpha val="64218"/>
            </a:srgbClr>
          </a:solidFill>
          <a:ln/>
        </p:spPr>
      </p:sp>
      <p:sp>
        <p:nvSpPr>
          <p:cNvPr id="41" name="Shape 39"/>
          <p:cNvSpPr/>
          <p:nvPr/>
        </p:nvSpPr>
        <p:spPr>
          <a:xfrm>
            <a:off x="9030868" y="2861124"/>
            <a:ext cx="109002" cy="109002"/>
          </a:xfrm>
          <a:prstGeom prst="ellipse">
            <a:avLst/>
          </a:prstGeom>
          <a:solidFill>
            <a:srgbClr val="1C7293">
              <a:alpha val="79241"/>
            </a:srgbClr>
          </a:solidFill>
          <a:ln/>
        </p:spPr>
      </p:sp>
      <p:sp>
        <p:nvSpPr>
          <p:cNvPr id="42" name="Shape 40"/>
          <p:cNvSpPr/>
          <p:nvPr/>
        </p:nvSpPr>
        <p:spPr>
          <a:xfrm>
            <a:off x="9360271" y="2660379"/>
            <a:ext cx="48300" cy="48300"/>
          </a:xfrm>
          <a:prstGeom prst="ellipse">
            <a:avLst/>
          </a:prstGeom>
          <a:solidFill>
            <a:srgbClr val="1C7293">
              <a:alpha val="62365"/>
            </a:srgbClr>
          </a:solidFill>
          <a:ln/>
        </p:spPr>
      </p:sp>
      <p:sp>
        <p:nvSpPr>
          <p:cNvPr id="43" name="Shape 41"/>
          <p:cNvSpPr/>
          <p:nvPr/>
        </p:nvSpPr>
        <p:spPr>
          <a:xfrm>
            <a:off x="9341234" y="2134503"/>
            <a:ext cx="44204" cy="44204"/>
          </a:xfrm>
          <a:prstGeom prst="ellipse">
            <a:avLst/>
          </a:prstGeom>
          <a:solidFill>
            <a:srgbClr val="1C7293">
              <a:alpha val="70673"/>
            </a:srgbClr>
          </a:solidFill>
          <a:ln/>
        </p:spPr>
      </p:sp>
      <p:sp>
        <p:nvSpPr>
          <p:cNvPr id="44" name="Shape 42"/>
          <p:cNvSpPr/>
          <p:nvPr/>
        </p:nvSpPr>
        <p:spPr>
          <a:xfrm>
            <a:off x="8588451" y="2837540"/>
            <a:ext cx="48957" cy="48957"/>
          </a:xfrm>
          <a:prstGeom prst="ellipse">
            <a:avLst/>
          </a:prstGeom>
          <a:solidFill>
            <a:srgbClr val="1C7293">
              <a:alpha val="63630"/>
            </a:srgbClr>
          </a:solidFill>
          <a:ln/>
        </p:spPr>
      </p:sp>
      <p:sp>
        <p:nvSpPr>
          <p:cNvPr id="45" name="Shape 43"/>
          <p:cNvSpPr/>
          <p:nvPr/>
        </p:nvSpPr>
        <p:spPr>
          <a:xfrm>
            <a:off x="9162563" y="2370767"/>
            <a:ext cx="106202" cy="106202"/>
          </a:xfrm>
          <a:prstGeom prst="ellipse">
            <a:avLst/>
          </a:prstGeom>
          <a:solidFill>
            <a:srgbClr val="1C7293">
              <a:alpha val="37871"/>
            </a:srgbClr>
          </a:solidFill>
          <a:ln/>
        </p:spPr>
      </p:sp>
      <p:sp>
        <p:nvSpPr>
          <p:cNvPr id="46" name="Shape 44"/>
          <p:cNvSpPr/>
          <p:nvPr/>
        </p:nvSpPr>
        <p:spPr>
          <a:xfrm>
            <a:off x="8826019" y="2303064"/>
            <a:ext cx="89214" cy="89214"/>
          </a:xfrm>
          <a:prstGeom prst="ellipse">
            <a:avLst/>
          </a:prstGeom>
          <a:solidFill>
            <a:srgbClr val="1C7293">
              <a:alpha val="46039"/>
            </a:srgbClr>
          </a:solidFill>
          <a:ln/>
        </p:spPr>
      </p:sp>
      <p:sp>
        <p:nvSpPr>
          <p:cNvPr id="47" name="Shape 45"/>
          <p:cNvSpPr/>
          <p:nvPr/>
        </p:nvSpPr>
        <p:spPr>
          <a:xfrm>
            <a:off x="9184340" y="2864006"/>
            <a:ext cx="59358" cy="59358"/>
          </a:xfrm>
          <a:prstGeom prst="ellipse">
            <a:avLst/>
          </a:prstGeom>
          <a:solidFill>
            <a:srgbClr val="1C7293">
              <a:alpha val="78289"/>
            </a:srgbClr>
          </a:solidFill>
          <a:ln/>
        </p:spPr>
      </p:sp>
      <p:sp>
        <p:nvSpPr>
          <p:cNvPr id="48" name="Shape 46"/>
          <p:cNvSpPr/>
          <p:nvPr/>
        </p:nvSpPr>
        <p:spPr>
          <a:xfrm>
            <a:off x="8665172" y="2622367"/>
            <a:ext cx="107769" cy="107769"/>
          </a:xfrm>
          <a:prstGeom prst="ellipse">
            <a:avLst/>
          </a:prstGeom>
          <a:solidFill>
            <a:srgbClr val="1C7293">
              <a:alpha val="76043"/>
            </a:srgbClr>
          </a:solidFill>
          <a:ln/>
        </p:spPr>
      </p:sp>
      <p:sp>
        <p:nvSpPr>
          <p:cNvPr id="49" name="Shape 47"/>
          <p:cNvSpPr/>
          <p:nvPr/>
        </p:nvSpPr>
        <p:spPr>
          <a:xfrm>
            <a:off x="9034665" y="2863426"/>
            <a:ext cx="94629" cy="94629"/>
          </a:xfrm>
          <a:prstGeom prst="ellipse">
            <a:avLst/>
          </a:prstGeom>
          <a:solidFill>
            <a:srgbClr val="1C7293">
              <a:alpha val="75783"/>
            </a:srgbClr>
          </a:solidFill>
          <a:ln/>
        </p:spPr>
      </p:sp>
      <p:sp>
        <p:nvSpPr>
          <p:cNvPr id="50" name="Shape 48"/>
          <p:cNvSpPr/>
          <p:nvPr/>
        </p:nvSpPr>
        <p:spPr>
          <a:xfrm>
            <a:off x="9165839" y="2922617"/>
            <a:ext cx="93659" cy="93659"/>
          </a:xfrm>
          <a:prstGeom prst="ellipse">
            <a:avLst/>
          </a:prstGeom>
          <a:solidFill>
            <a:srgbClr val="1C7293">
              <a:alpha val="51479"/>
            </a:srgbClr>
          </a:solidFill>
          <a:ln/>
        </p:spPr>
      </p:sp>
      <p:sp>
        <p:nvSpPr>
          <p:cNvPr id="51" name="Shape 49"/>
          <p:cNvSpPr/>
          <p:nvPr/>
        </p:nvSpPr>
        <p:spPr>
          <a:xfrm>
            <a:off x="9044587" y="2297003"/>
            <a:ext cx="83969" cy="83969"/>
          </a:xfrm>
          <a:prstGeom prst="ellipse">
            <a:avLst/>
          </a:prstGeom>
          <a:solidFill>
            <a:srgbClr val="1C7293">
              <a:alpha val="43669"/>
            </a:srgbClr>
          </a:solidFill>
          <a:ln/>
        </p:spPr>
      </p:sp>
      <p:sp>
        <p:nvSpPr>
          <p:cNvPr id="52" name="Shape 50"/>
          <p:cNvSpPr/>
          <p:nvPr/>
        </p:nvSpPr>
        <p:spPr>
          <a:xfrm>
            <a:off x="9254962" y="2812379"/>
            <a:ext cx="50027" cy="50027"/>
          </a:xfrm>
          <a:prstGeom prst="ellipse">
            <a:avLst/>
          </a:prstGeom>
          <a:solidFill>
            <a:srgbClr val="1C7293">
              <a:alpha val="66462"/>
            </a:srgbClr>
          </a:solidFill>
          <a:ln/>
        </p:spPr>
      </p:sp>
      <p:sp>
        <p:nvSpPr>
          <p:cNvPr id="53" name="Shape 51"/>
          <p:cNvSpPr/>
          <p:nvPr/>
        </p:nvSpPr>
        <p:spPr>
          <a:xfrm>
            <a:off x="8659972" y="2369239"/>
            <a:ext cx="118394" cy="118394"/>
          </a:xfrm>
          <a:prstGeom prst="ellipse">
            <a:avLst/>
          </a:prstGeom>
          <a:solidFill>
            <a:srgbClr val="1C7293">
              <a:alpha val="43685"/>
            </a:srgbClr>
          </a:solidFill>
          <a:ln/>
        </p:spPr>
      </p:sp>
      <p:sp>
        <p:nvSpPr>
          <p:cNvPr id="54" name="Shape 52"/>
          <p:cNvSpPr/>
          <p:nvPr/>
        </p:nvSpPr>
        <p:spPr>
          <a:xfrm>
            <a:off x="8674159" y="2123983"/>
            <a:ext cx="101081" cy="101081"/>
          </a:xfrm>
          <a:prstGeom prst="ellipse">
            <a:avLst/>
          </a:prstGeom>
          <a:solidFill>
            <a:srgbClr val="1C7293">
              <a:alpha val="77502"/>
            </a:srgbClr>
          </a:solidFill>
          <a:ln/>
        </p:spPr>
      </p:sp>
      <p:sp>
        <p:nvSpPr>
          <p:cNvPr id="55" name="Shape 53"/>
          <p:cNvSpPr/>
          <p:nvPr/>
        </p:nvSpPr>
        <p:spPr>
          <a:xfrm>
            <a:off x="9235945" y="2183922"/>
            <a:ext cx="109262" cy="109262"/>
          </a:xfrm>
          <a:prstGeom prst="ellipse">
            <a:avLst/>
          </a:prstGeom>
          <a:solidFill>
            <a:srgbClr val="1C7293">
              <a:alpha val="37252"/>
            </a:srgbClr>
          </a:solidFill>
          <a:ln/>
        </p:spPr>
      </p:sp>
      <p:sp>
        <p:nvSpPr>
          <p:cNvPr id="56" name="Text 54"/>
          <p:cNvSpPr txBox="1"/>
          <p:nvPr/>
        </p:nvSpPr>
        <p:spPr>
          <a:xfrm>
            <a:off x="8366760" y="3127248"/>
            <a:ext cx="1234440" cy="320040"/>
          </a:xfrm>
          <a:prstGeom prst="rect">
            <a:avLst/>
          </a:prstGeom>
          <a:noFill/>
          <a:ln/>
        </p:spPr>
        <p:txBody>
          <a:bodyPr wrap="square" lIns="0" tIns="0" rIns="0" bIns="0" rtlCol="0" anchor="ctr"/>
          <a:lstStyle/>
          <a:p>
            <a:pPr algn="ctr" indent="0" marL="0">
              <a:buNone/>
            </a:pPr>
            <a:r>
              <a:rPr lang="en-US" sz="1200" b="1" dirty="0">
                <a:solidFill>
                  <a:srgbClr val="6B7B84"/>
                </a:solidFill>
                <a:latin typeface="Calibri" pitchFamily="34" charset="0"/>
                <a:ea typeface="Calibri" pitchFamily="34" charset="-122"/>
                <a:cs typeface="Calibri" pitchFamily="34" charset="-120"/>
              </a:rPr>
              <a:t>1024 pts</a:t>
            </a:r>
            <a:endParaRPr lang="en-US" sz="1200" dirty="0"/>
          </a:p>
        </p:txBody>
      </p:sp>
      <p:sp>
        <p:nvSpPr>
          <p:cNvPr id="57" name="Shape 55"/>
          <p:cNvSpPr/>
          <p:nvPr/>
        </p:nvSpPr>
        <p:spPr>
          <a:xfrm>
            <a:off x="9646920" y="2011680"/>
            <a:ext cx="1051560" cy="1051560"/>
          </a:xfrm>
          <a:prstGeom prst="roundRect">
            <a:avLst>
              <a:gd name="adj" fmla="val 7826"/>
            </a:avLst>
          </a:prstGeom>
          <a:solidFill>
            <a:srgbClr val="F2F6F7"/>
          </a:solidFill>
          <a:ln/>
          <a:effectLst>
            <a:outerShdw sx="100000" sy="100000" kx="0" ky="0" algn="bl" rotWithShape="0" blurRad="88900" dist="25400" dir="5400000">
              <a:srgbClr val="9AAEB5">
                <a:alpha val="35000"/>
              </a:srgbClr>
            </a:outerShdw>
          </a:effectLst>
        </p:spPr>
      </p:sp>
      <p:sp>
        <p:nvSpPr>
          <p:cNvPr id="58" name="Shape 56"/>
          <p:cNvSpPr/>
          <p:nvPr/>
        </p:nvSpPr>
        <p:spPr>
          <a:xfrm>
            <a:off x="10500263" y="2691956"/>
            <a:ext cx="51653" cy="51653"/>
          </a:xfrm>
          <a:prstGeom prst="ellipse">
            <a:avLst/>
          </a:prstGeom>
          <a:solidFill>
            <a:srgbClr val="1C7293">
              <a:alpha val="77761"/>
            </a:srgbClr>
          </a:solidFill>
          <a:ln/>
        </p:spPr>
      </p:sp>
      <p:sp>
        <p:nvSpPr>
          <p:cNvPr id="59" name="Shape 57"/>
          <p:cNvSpPr/>
          <p:nvPr/>
        </p:nvSpPr>
        <p:spPr>
          <a:xfrm>
            <a:off x="10179938" y="2454812"/>
            <a:ext cx="104980" cy="104980"/>
          </a:xfrm>
          <a:prstGeom prst="ellipse">
            <a:avLst/>
          </a:prstGeom>
          <a:solidFill>
            <a:srgbClr val="1C7293">
              <a:alpha val="77042"/>
            </a:srgbClr>
          </a:solidFill>
          <a:ln/>
        </p:spPr>
      </p:sp>
      <p:sp>
        <p:nvSpPr>
          <p:cNvPr id="60" name="Shape 58"/>
          <p:cNvSpPr/>
          <p:nvPr/>
        </p:nvSpPr>
        <p:spPr>
          <a:xfrm>
            <a:off x="9793782" y="2351539"/>
            <a:ext cx="40578" cy="40578"/>
          </a:xfrm>
          <a:prstGeom prst="ellipse">
            <a:avLst/>
          </a:prstGeom>
          <a:solidFill>
            <a:srgbClr val="1C7293">
              <a:alpha val="74307"/>
            </a:srgbClr>
          </a:solidFill>
          <a:ln/>
        </p:spPr>
      </p:sp>
      <p:sp>
        <p:nvSpPr>
          <p:cNvPr id="61" name="Shape 59"/>
          <p:cNvSpPr/>
          <p:nvPr/>
        </p:nvSpPr>
        <p:spPr>
          <a:xfrm>
            <a:off x="9780759" y="2634700"/>
            <a:ext cx="96545" cy="96545"/>
          </a:xfrm>
          <a:prstGeom prst="ellipse">
            <a:avLst/>
          </a:prstGeom>
          <a:solidFill>
            <a:srgbClr val="1C7293">
              <a:alpha val="71651"/>
            </a:srgbClr>
          </a:solidFill>
          <a:ln/>
        </p:spPr>
      </p:sp>
      <p:sp>
        <p:nvSpPr>
          <p:cNvPr id="62" name="Shape 60"/>
          <p:cNvSpPr/>
          <p:nvPr/>
        </p:nvSpPr>
        <p:spPr>
          <a:xfrm>
            <a:off x="10017442" y="2826121"/>
            <a:ext cx="112198" cy="112198"/>
          </a:xfrm>
          <a:prstGeom prst="ellipse">
            <a:avLst/>
          </a:prstGeom>
          <a:solidFill>
            <a:srgbClr val="1C7293">
              <a:alpha val="52562"/>
            </a:srgbClr>
          </a:solidFill>
          <a:ln/>
        </p:spPr>
      </p:sp>
      <p:sp>
        <p:nvSpPr>
          <p:cNvPr id="63" name="Shape 61"/>
          <p:cNvSpPr/>
          <p:nvPr/>
        </p:nvSpPr>
        <p:spPr>
          <a:xfrm>
            <a:off x="10418996" y="2688488"/>
            <a:ext cx="83672" cy="83672"/>
          </a:xfrm>
          <a:prstGeom prst="ellipse">
            <a:avLst/>
          </a:prstGeom>
          <a:solidFill>
            <a:srgbClr val="1C7293">
              <a:alpha val="75286"/>
            </a:srgbClr>
          </a:solidFill>
          <a:ln/>
        </p:spPr>
      </p:sp>
      <p:sp>
        <p:nvSpPr>
          <p:cNvPr id="64" name="Shape 62"/>
          <p:cNvSpPr/>
          <p:nvPr/>
        </p:nvSpPr>
        <p:spPr>
          <a:xfrm>
            <a:off x="10556795" y="2159224"/>
            <a:ext cx="51729" cy="51729"/>
          </a:xfrm>
          <a:prstGeom prst="ellipse">
            <a:avLst/>
          </a:prstGeom>
          <a:solidFill>
            <a:srgbClr val="1C7293">
              <a:alpha val="73975"/>
            </a:srgbClr>
          </a:solidFill>
          <a:ln/>
        </p:spPr>
      </p:sp>
      <p:sp>
        <p:nvSpPr>
          <p:cNvPr id="65" name="Shape 63"/>
          <p:cNvSpPr/>
          <p:nvPr/>
        </p:nvSpPr>
        <p:spPr>
          <a:xfrm>
            <a:off x="10402445" y="2426127"/>
            <a:ext cx="88621" cy="88621"/>
          </a:xfrm>
          <a:prstGeom prst="ellipse">
            <a:avLst/>
          </a:prstGeom>
          <a:solidFill>
            <a:srgbClr val="1C7293">
              <a:alpha val="36467"/>
            </a:srgbClr>
          </a:solidFill>
          <a:ln/>
        </p:spPr>
      </p:sp>
      <p:sp>
        <p:nvSpPr>
          <p:cNvPr id="66" name="Shape 64"/>
          <p:cNvSpPr/>
          <p:nvPr/>
        </p:nvSpPr>
        <p:spPr>
          <a:xfrm>
            <a:off x="10494472" y="2176176"/>
            <a:ext cx="58023" cy="58023"/>
          </a:xfrm>
          <a:prstGeom prst="ellipse">
            <a:avLst/>
          </a:prstGeom>
          <a:solidFill>
            <a:srgbClr val="1C7293">
              <a:alpha val="79848"/>
            </a:srgbClr>
          </a:solidFill>
          <a:ln/>
        </p:spPr>
      </p:sp>
      <p:sp>
        <p:nvSpPr>
          <p:cNvPr id="67" name="Shape 65"/>
          <p:cNvSpPr/>
          <p:nvPr/>
        </p:nvSpPr>
        <p:spPr>
          <a:xfrm>
            <a:off x="9881516" y="2313298"/>
            <a:ext cx="62090" cy="62090"/>
          </a:xfrm>
          <a:prstGeom prst="ellipse">
            <a:avLst/>
          </a:prstGeom>
          <a:solidFill>
            <a:srgbClr val="1C7293">
              <a:alpha val="31177"/>
            </a:srgbClr>
          </a:solidFill>
          <a:ln/>
        </p:spPr>
      </p:sp>
      <p:sp>
        <p:nvSpPr>
          <p:cNvPr id="68" name="Shape 66"/>
          <p:cNvSpPr/>
          <p:nvPr/>
        </p:nvSpPr>
        <p:spPr>
          <a:xfrm>
            <a:off x="9889774" y="2859548"/>
            <a:ext cx="117131" cy="117131"/>
          </a:xfrm>
          <a:prstGeom prst="ellipse">
            <a:avLst/>
          </a:prstGeom>
          <a:solidFill>
            <a:srgbClr val="1C7293">
              <a:alpha val="56454"/>
            </a:srgbClr>
          </a:solidFill>
          <a:ln/>
        </p:spPr>
      </p:sp>
      <p:sp>
        <p:nvSpPr>
          <p:cNvPr id="69" name="Shape 67"/>
          <p:cNvSpPr/>
          <p:nvPr/>
        </p:nvSpPr>
        <p:spPr>
          <a:xfrm>
            <a:off x="10400463" y="2469219"/>
            <a:ext cx="64132" cy="64132"/>
          </a:xfrm>
          <a:prstGeom prst="ellipse">
            <a:avLst/>
          </a:prstGeom>
          <a:solidFill>
            <a:srgbClr val="1C7293">
              <a:alpha val="50799"/>
            </a:srgbClr>
          </a:solidFill>
          <a:ln/>
        </p:spPr>
      </p:sp>
      <p:sp>
        <p:nvSpPr>
          <p:cNvPr id="70" name="Shape 68"/>
          <p:cNvSpPr/>
          <p:nvPr/>
        </p:nvSpPr>
        <p:spPr>
          <a:xfrm>
            <a:off x="10164420" y="2797347"/>
            <a:ext cx="58967" cy="58967"/>
          </a:xfrm>
          <a:prstGeom prst="ellipse">
            <a:avLst/>
          </a:prstGeom>
          <a:solidFill>
            <a:srgbClr val="1C7293">
              <a:alpha val="33282"/>
            </a:srgbClr>
          </a:solidFill>
          <a:ln/>
        </p:spPr>
      </p:sp>
      <p:sp>
        <p:nvSpPr>
          <p:cNvPr id="71" name="Shape 69"/>
          <p:cNvSpPr/>
          <p:nvPr/>
        </p:nvSpPr>
        <p:spPr>
          <a:xfrm>
            <a:off x="10288092" y="2909392"/>
            <a:ext cx="98124" cy="98124"/>
          </a:xfrm>
          <a:prstGeom prst="ellipse">
            <a:avLst/>
          </a:prstGeom>
          <a:solidFill>
            <a:srgbClr val="1C7293">
              <a:alpha val="53794"/>
            </a:srgbClr>
          </a:solidFill>
          <a:ln/>
        </p:spPr>
      </p:sp>
      <p:sp>
        <p:nvSpPr>
          <p:cNvPr id="72" name="Shape 70"/>
          <p:cNvSpPr/>
          <p:nvPr/>
        </p:nvSpPr>
        <p:spPr>
          <a:xfrm>
            <a:off x="9954466" y="2905937"/>
            <a:ext cx="50304" cy="50304"/>
          </a:xfrm>
          <a:prstGeom prst="ellipse">
            <a:avLst/>
          </a:prstGeom>
          <a:solidFill>
            <a:srgbClr val="1C7293">
              <a:alpha val="61791"/>
            </a:srgbClr>
          </a:solidFill>
          <a:ln/>
        </p:spPr>
      </p:sp>
      <p:sp>
        <p:nvSpPr>
          <p:cNvPr id="73" name="Shape 71"/>
          <p:cNvSpPr/>
          <p:nvPr/>
        </p:nvSpPr>
        <p:spPr>
          <a:xfrm>
            <a:off x="10323018" y="2716490"/>
            <a:ext cx="78586" cy="78586"/>
          </a:xfrm>
          <a:prstGeom prst="ellipse">
            <a:avLst/>
          </a:prstGeom>
          <a:solidFill>
            <a:srgbClr val="1C7293">
              <a:alpha val="67616"/>
            </a:srgbClr>
          </a:solidFill>
          <a:ln/>
        </p:spPr>
      </p:sp>
      <p:sp>
        <p:nvSpPr>
          <p:cNvPr id="74" name="Text 72"/>
          <p:cNvSpPr txBox="1"/>
          <p:nvPr/>
        </p:nvSpPr>
        <p:spPr>
          <a:xfrm>
            <a:off x="9555480" y="3127248"/>
            <a:ext cx="1234440" cy="320040"/>
          </a:xfrm>
          <a:prstGeom prst="rect">
            <a:avLst/>
          </a:prstGeom>
          <a:noFill/>
          <a:ln/>
        </p:spPr>
        <p:txBody>
          <a:bodyPr wrap="square" lIns="0" tIns="0" rIns="0" bIns="0" rtlCol="0" anchor="ctr"/>
          <a:lstStyle/>
          <a:p>
            <a:pPr algn="ctr" indent="0" marL="0">
              <a:buNone/>
            </a:pPr>
            <a:r>
              <a:rPr lang="en-US" sz="1200" b="1" dirty="0">
                <a:solidFill>
                  <a:srgbClr val="6B7B84"/>
                </a:solidFill>
                <a:latin typeface="Calibri" pitchFamily="34" charset="0"/>
                <a:ea typeface="Calibri" pitchFamily="34" charset="-122"/>
                <a:cs typeface="Calibri" pitchFamily="34" charset="-120"/>
              </a:rPr>
              <a:t>128 pts</a:t>
            </a:r>
            <a:endParaRPr lang="en-US" sz="1200" dirty="0"/>
          </a:p>
        </p:txBody>
      </p:sp>
      <p:sp>
        <p:nvSpPr>
          <p:cNvPr id="75" name="Shape 73"/>
          <p:cNvSpPr/>
          <p:nvPr/>
        </p:nvSpPr>
        <p:spPr>
          <a:xfrm>
            <a:off x="10835640" y="2011680"/>
            <a:ext cx="1051560" cy="1051560"/>
          </a:xfrm>
          <a:prstGeom prst="roundRect">
            <a:avLst>
              <a:gd name="adj" fmla="val 7826"/>
            </a:avLst>
          </a:prstGeom>
          <a:solidFill>
            <a:srgbClr val="F2F6F7"/>
          </a:solidFill>
          <a:ln/>
          <a:effectLst>
            <a:outerShdw sx="100000" sy="100000" kx="0" ky="0" algn="bl" rotWithShape="0" blurRad="88900" dist="25400" dir="5400000">
              <a:srgbClr val="9AAEB5">
                <a:alpha val="35000"/>
              </a:srgbClr>
            </a:outerShdw>
          </a:effectLst>
        </p:spPr>
      </p:sp>
      <p:sp>
        <p:nvSpPr>
          <p:cNvPr id="76" name="Shape 74"/>
          <p:cNvSpPr/>
          <p:nvPr/>
        </p:nvSpPr>
        <p:spPr>
          <a:xfrm>
            <a:off x="11245246" y="2539817"/>
            <a:ext cx="85100" cy="85100"/>
          </a:xfrm>
          <a:prstGeom prst="ellipse">
            <a:avLst/>
          </a:prstGeom>
          <a:solidFill>
            <a:srgbClr val="1C7293">
              <a:alpha val="51159"/>
            </a:srgbClr>
          </a:solidFill>
          <a:ln/>
        </p:spPr>
      </p:sp>
      <p:sp>
        <p:nvSpPr>
          <p:cNvPr id="77" name="Shape 75"/>
          <p:cNvSpPr/>
          <p:nvPr/>
        </p:nvSpPr>
        <p:spPr>
          <a:xfrm>
            <a:off x="11274697" y="2740922"/>
            <a:ext cx="117376" cy="117376"/>
          </a:xfrm>
          <a:prstGeom prst="ellipse">
            <a:avLst/>
          </a:prstGeom>
          <a:solidFill>
            <a:srgbClr val="1C7293">
              <a:alpha val="52777"/>
            </a:srgbClr>
          </a:solidFill>
          <a:ln/>
        </p:spPr>
      </p:sp>
      <p:sp>
        <p:nvSpPr>
          <p:cNvPr id="78" name="Shape 76"/>
          <p:cNvSpPr/>
          <p:nvPr/>
        </p:nvSpPr>
        <p:spPr>
          <a:xfrm>
            <a:off x="11309539" y="2431835"/>
            <a:ext cx="84872" cy="84872"/>
          </a:xfrm>
          <a:prstGeom prst="ellipse">
            <a:avLst/>
          </a:prstGeom>
          <a:solidFill>
            <a:srgbClr val="1C7293">
              <a:alpha val="45006"/>
            </a:srgbClr>
          </a:solidFill>
          <a:ln/>
        </p:spPr>
      </p:sp>
      <p:sp>
        <p:nvSpPr>
          <p:cNvPr id="79" name="Shape 77"/>
          <p:cNvSpPr/>
          <p:nvPr/>
        </p:nvSpPr>
        <p:spPr>
          <a:xfrm>
            <a:off x="11659947" y="2157726"/>
            <a:ext cx="74750" cy="74750"/>
          </a:xfrm>
          <a:prstGeom prst="ellipse">
            <a:avLst/>
          </a:prstGeom>
          <a:solidFill>
            <a:srgbClr val="1C7293">
              <a:alpha val="52726"/>
            </a:srgbClr>
          </a:solidFill>
          <a:ln/>
        </p:spPr>
      </p:sp>
      <p:sp>
        <p:nvSpPr>
          <p:cNvPr id="80" name="Shape 78"/>
          <p:cNvSpPr/>
          <p:nvPr/>
        </p:nvSpPr>
        <p:spPr>
          <a:xfrm>
            <a:off x="11491929" y="2749021"/>
            <a:ext cx="106535" cy="106535"/>
          </a:xfrm>
          <a:prstGeom prst="ellipse">
            <a:avLst/>
          </a:prstGeom>
          <a:solidFill>
            <a:srgbClr val="1C7293">
              <a:alpha val="70219"/>
            </a:srgbClr>
          </a:solidFill>
          <a:ln/>
        </p:spPr>
      </p:sp>
      <p:sp>
        <p:nvSpPr>
          <p:cNvPr id="81" name="Text 79"/>
          <p:cNvSpPr txBox="1"/>
          <p:nvPr/>
        </p:nvSpPr>
        <p:spPr>
          <a:xfrm>
            <a:off x="10744200" y="3127248"/>
            <a:ext cx="1234440" cy="320040"/>
          </a:xfrm>
          <a:prstGeom prst="rect">
            <a:avLst/>
          </a:prstGeom>
          <a:noFill/>
          <a:ln/>
        </p:spPr>
        <p:txBody>
          <a:bodyPr wrap="square" lIns="0" tIns="0" rIns="0" bIns="0" rtlCol="0" anchor="ctr"/>
          <a:lstStyle/>
          <a:p>
            <a:pPr algn="ctr" indent="0" marL="0">
              <a:buNone/>
            </a:pPr>
            <a:r>
              <a:rPr lang="en-US" sz="1200" b="1" dirty="0">
                <a:solidFill>
                  <a:srgbClr val="6B7B84"/>
                </a:solidFill>
                <a:latin typeface="Calibri" pitchFamily="34" charset="0"/>
                <a:ea typeface="Calibri" pitchFamily="34" charset="-122"/>
                <a:cs typeface="Calibri" pitchFamily="34" charset="-120"/>
              </a:rPr>
              <a:t>16 pts</a:t>
            </a:r>
            <a:endParaRPr lang="en-US" sz="1200" dirty="0"/>
          </a:p>
        </p:txBody>
      </p:sp>
      <p:sp>
        <p:nvSpPr>
          <p:cNvPr id="82" name="Text 80"/>
          <p:cNvSpPr txBox="1"/>
          <p:nvPr/>
        </p:nvSpPr>
        <p:spPr>
          <a:xfrm>
            <a:off x="8412480" y="3566160"/>
            <a:ext cx="3108960" cy="365760"/>
          </a:xfrm>
          <a:prstGeom prst="rect">
            <a:avLst/>
          </a:prstGeom>
          <a:noFill/>
          <a:ln/>
        </p:spPr>
        <p:txBody>
          <a:bodyPr wrap="square" lIns="0" tIns="0" rIns="0" bIns="0" rtlCol="0" anchor="ctr"/>
          <a:lstStyle/>
          <a:p>
            <a:pPr algn="ctr" indent="0" marL="0">
              <a:buNone/>
            </a:pPr>
            <a:r>
              <a:rPr lang="en-US" sz="1200" i="1" dirty="0">
                <a:solidFill>
                  <a:srgbClr val="E76F51"/>
                </a:solidFill>
                <a:latin typeface="Calibri" pitchFamily="34" charset="0"/>
                <a:ea typeface="Calibri" pitchFamily="34" charset="-122"/>
                <a:cs typeface="Calibri" pitchFamily="34" charset="-120"/>
              </a:rPr>
              <a:t>← de plus en plus parcimonieux</a:t>
            </a:r>
            <a:endParaRPr lang="en-US" sz="1200" dirty="0"/>
          </a:p>
        </p:txBody>
      </p:sp>
      <p:sp>
        <p:nvSpPr>
          <p:cNvPr id="83" name="Text 81"/>
          <p:cNvSpPr txBox="1"/>
          <p:nvPr/>
        </p:nvSpPr>
        <p:spPr>
          <a:xfrm>
            <a:off x="548640" y="5120640"/>
            <a:ext cx="11064240" cy="548640"/>
          </a:xfrm>
          <a:prstGeom prst="rect">
            <a:avLst/>
          </a:prstGeom>
          <a:noFill/>
          <a:ln/>
        </p:spPr>
        <p:txBody>
          <a:bodyPr wrap="square" lIns="0" tIns="0" rIns="0" bIns="0" rtlCol="0" anchor="ctr"/>
          <a:lstStyle/>
          <a:p>
            <a:pPr indent="0" marL="0">
              <a:buNone/>
            </a:pPr>
            <a:r>
              <a:rPr lang="en-US" sz="1300" i="1" dirty="0">
                <a:solidFill>
                  <a:srgbClr val="6B7B84"/>
                </a:solidFill>
                <a:latin typeface="Calibri" pitchFamily="34" charset="0"/>
                <a:ea typeface="Calibri" pitchFamily="34" charset="-122"/>
                <a:cs typeface="Calibri" pitchFamily="34" charset="-120"/>
              </a:rPr>
              <a:t>Pourquoi : sur 310 nodules de test, l'écart-type entre seeds (≈ 0.02 AUC) est du même ordre que les effets recherchés.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Baselines sur 5 seeds — ce qui change</a:t>
            </a:r>
            <a:endParaRPr lang="en-US" sz="3200" dirty="0"/>
          </a:p>
        </p:txBody>
      </p:sp>
      <p:graphicFrame>
        <p:nvGraphicFramePr>
          <p:cNvPr id="3" name="Chart 0" descr=""/>
          <p:cNvGraphicFramePr/>
          <p:nvPr/>
        </p:nvGraphicFramePr>
        <p:xfrm>
          <a:off x="548640" y="1417320"/>
          <a:ext cx="740664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183880" y="1554480"/>
            <a:ext cx="3429000" cy="4572000"/>
          </a:xfrm>
          <a:prstGeom prst="roundRect">
            <a:avLst>
              <a:gd name="adj" fmla="val 2400"/>
            </a:avLst>
          </a:prstGeom>
          <a:solidFill>
            <a:srgbClr val="08293A"/>
          </a:solidFill>
          <a:ln/>
          <a:effectLst>
            <a:outerShdw sx="100000" sy="100000" kx="0" ky="0" algn="bl" rotWithShape="0" blurRad="88900" dist="25400" dir="5400000">
              <a:srgbClr val="9AAEB5">
                <a:alpha val="35000"/>
              </a:srgbClr>
            </a:outerShdw>
          </a:effectLst>
        </p:spPr>
      </p:sp>
      <p:sp>
        <p:nvSpPr>
          <p:cNvPr id="5" name="Text 2"/>
          <p:cNvSpPr txBox="1"/>
          <p:nvPr/>
        </p:nvSpPr>
        <p:spPr>
          <a:xfrm>
            <a:off x="8412480" y="1783080"/>
            <a:ext cx="3017520" cy="365760"/>
          </a:xfrm>
          <a:prstGeom prst="rect">
            <a:avLst/>
          </a:prstGeom>
          <a:noFill/>
          <a:ln/>
        </p:spPr>
        <p:txBody>
          <a:bodyPr wrap="square" lIns="0" tIns="0" rIns="0" bIns="0" rtlCol="0" anchor="ctr"/>
          <a:lstStyle/>
          <a:p>
            <a:pPr indent="0" marL="0">
              <a:buNone/>
            </a:pPr>
            <a:r>
              <a:rPr lang="en-US" sz="1700" b="1" dirty="0">
                <a:solidFill>
                  <a:srgbClr val="2EC4B6"/>
                </a:solidFill>
                <a:latin typeface="Cambria" pitchFamily="34" charset="0"/>
                <a:ea typeface="Cambria" pitchFamily="34" charset="-122"/>
                <a:cs typeface="Cambria" pitchFamily="34" charset="-120"/>
              </a:rPr>
              <a:t>À retenir</a:t>
            </a:r>
            <a:endParaRPr lang="en-US" sz="1700" dirty="0"/>
          </a:p>
        </p:txBody>
      </p:sp>
      <p:sp>
        <p:nvSpPr>
          <p:cNvPr id="6" name="Text 3"/>
          <p:cNvSpPr txBox="1"/>
          <p:nvPr/>
        </p:nvSpPr>
        <p:spPr>
          <a:xfrm>
            <a:off x="8503920" y="2286000"/>
            <a:ext cx="2971800" cy="3657600"/>
          </a:xfrm>
          <a:prstGeom prst="rect">
            <a:avLst/>
          </a:prstGeom>
          <a:noFill/>
          <a:ln/>
        </p:spPr>
        <p:txBody>
          <a:bodyPr wrap="square" lIns="0" tIns="0" rIns="0" bIns="0" rtlCol="0" anchor="ctr"/>
          <a:lstStyle/>
          <a:p>
            <a:pPr marL="203200" indent="-203200">
              <a:lnSpc>
                <a:spcPct val="105000"/>
              </a:lnSpc>
              <a:spcAft>
                <a:spcPts val="1100"/>
              </a:spcAft>
              <a:buSzPct val="100000"/>
              <a:buChar char="•"/>
            </a:pPr>
            <a:r>
              <a:rPr lang="en-US" sz="1300" dirty="0">
                <a:solidFill>
                  <a:srgbClr val="E6F2F3"/>
                </a:solidFill>
                <a:latin typeface="Calibri" pitchFamily="34" charset="0"/>
                <a:ea typeface="Calibri" pitchFamily="34" charset="-122"/>
                <a:cs typeface="Calibri" pitchFamily="34" charset="-120"/>
              </a:rPr>
              <a:t>1ʳᵉ moitié (1 seed) : student 0.810 vs teacher 0.791. Sur 5 seeds : 0.763 vs 0.765 → égalité.</a:t>
            </a:r>
            <a:endParaRPr lang="en-US" sz="1300" dirty="0"/>
          </a:p>
          <a:p>
            <a:pPr marL="203200" indent="-203200">
              <a:lnSpc>
                <a:spcPct val="105000"/>
              </a:lnSpc>
              <a:spcAft>
                <a:spcPts val="1100"/>
              </a:spcAft>
              <a:buSzPct val="100000"/>
              <a:buChar char="•"/>
            </a:pPr>
            <a:r>
              <a:rPr lang="en-US" sz="1300" dirty="0">
                <a:solidFill>
                  <a:srgbClr val="E6F2F3"/>
                </a:solidFill>
                <a:latin typeface="Calibri" pitchFamily="34" charset="0"/>
                <a:ea typeface="Calibri" pitchFamily="34" charset="-122"/>
                <a:cs typeface="Calibri" pitchFamily="34" charset="-120"/>
              </a:rPr>
              <a:t>Le student est ~3× plus instable (σ 0.028 vs 0.008).</a:t>
            </a:r>
            <a:endParaRPr lang="en-US" sz="1300" dirty="0"/>
          </a:p>
          <a:p>
            <a:pPr marL="203200" indent="-203200">
              <a:lnSpc>
                <a:spcPct val="105000"/>
              </a:lnSpc>
              <a:spcAft>
                <a:spcPts val="1100"/>
              </a:spcAft>
              <a:buSzPct val="100000"/>
              <a:buChar char="•"/>
            </a:pPr>
            <a:r>
              <a:rPr lang="en-US" sz="1300" dirty="0">
                <a:solidFill>
                  <a:srgbClr val="E6F2F3"/>
                </a:solidFill>
                <a:latin typeface="Calibri" pitchFamily="34" charset="0"/>
                <a:ea typeface="Calibri" pitchFamily="34" charset="-122"/>
                <a:cs typeface="Calibri" pitchFamily="34" charset="-120"/>
              </a:rPr>
              <a:t>L'avantage du teacher n'existe qu'à ≤ 32 pts (16 pts : 0.605 vs 0.585) — un signal faible à transférer.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Distillation — 6 variantes, une seule boucle</a:t>
            </a:r>
            <a:endParaRPr lang="en-US" sz="3200" dirty="0"/>
          </a:p>
        </p:txBody>
      </p:sp>
      <p:sp>
        <p:nvSpPr>
          <p:cNvPr id="3" name="Shape 1"/>
          <p:cNvSpPr/>
          <p:nvPr/>
        </p:nvSpPr>
        <p:spPr>
          <a:xfrm>
            <a:off x="548640" y="1554480"/>
            <a:ext cx="3566160" cy="1920240"/>
          </a:xfrm>
          <a:prstGeom prst="roundRect">
            <a:avLst>
              <a:gd name="adj" fmla="val 4286"/>
            </a:avLst>
          </a:prstGeom>
          <a:solidFill>
            <a:srgbClr val="EAF3F3"/>
          </a:solidFill>
          <a:ln/>
          <a:effectLst>
            <a:outerShdw sx="100000" sy="100000" kx="0" ky="0" algn="bl" rotWithShape="0" blurRad="88900" dist="25400" dir="5400000">
              <a:srgbClr val="9AAEB5">
                <a:alpha val="35000"/>
              </a:srgbClr>
            </a:outerShdw>
          </a:effectLst>
        </p:spPr>
      </p:sp>
      <p:sp>
        <p:nvSpPr>
          <p:cNvPr id="4" name="Shape 2"/>
          <p:cNvSpPr/>
          <p:nvPr/>
        </p:nvSpPr>
        <p:spPr>
          <a:xfrm>
            <a:off x="777240" y="1810512"/>
            <a:ext cx="530352" cy="530352"/>
          </a:xfrm>
          <a:prstGeom prst="ellipse">
            <a:avLst/>
          </a:prstGeom>
          <a:solidFill>
            <a:srgbClr val="1C7293"/>
          </a:solidFill>
          <a:ln/>
        </p:spPr>
      </p:sp>
      <p:sp>
        <p:nvSpPr>
          <p:cNvPr id="5" name="Text 3"/>
          <p:cNvSpPr txBox="1"/>
          <p:nvPr/>
        </p:nvSpPr>
        <p:spPr>
          <a:xfrm>
            <a:off x="777240" y="181051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463040" y="1801368"/>
            <a:ext cx="2560320" cy="548640"/>
          </a:xfrm>
          <a:prstGeom prst="rect">
            <a:avLst/>
          </a:prstGeom>
          <a:noFill/>
          <a:ln/>
        </p:spPr>
        <p:txBody>
          <a:bodyPr wrap="square" lIns="0" tIns="0" rIns="0" bIns="0" rtlCol="0" anchor="ctr"/>
          <a:lstStyle/>
          <a:p>
            <a:pPr indent="0" marL="0">
              <a:buNone/>
            </a:pPr>
            <a:r>
              <a:rPr lang="en-US" sz="1550" b="1" dirty="0">
                <a:solidFill>
                  <a:srgbClr val="0B3C5D"/>
                </a:solidFill>
                <a:latin typeface="Cambria" pitchFamily="34" charset="0"/>
                <a:ea typeface="Cambria" pitchFamily="34" charset="-122"/>
                <a:cs typeface="Cambria" pitchFamily="34" charset="-120"/>
              </a:rPr>
              <a:t>scratch</a:t>
            </a:r>
            <a:endParaRPr lang="en-US" sz="1550" dirty="0"/>
          </a:p>
        </p:txBody>
      </p:sp>
      <p:sp>
        <p:nvSpPr>
          <p:cNvPr id="7" name="Text 5"/>
          <p:cNvSpPr txBox="1"/>
          <p:nvPr/>
        </p:nvSpPr>
        <p:spPr>
          <a:xfrm>
            <a:off x="822960" y="2468880"/>
            <a:ext cx="3108960" cy="914400"/>
          </a:xfrm>
          <a:prstGeom prst="rect">
            <a:avLst/>
          </a:prstGeom>
          <a:noFill/>
          <a:ln/>
        </p:spPr>
        <p:txBody>
          <a:bodyPr wrap="square" lIns="0" tIns="0" rIns="0" bIns="0" rtlCol="0" anchor="ctr"/>
          <a:lstStyle/>
          <a:p>
            <a:pPr indent="0" marL="0">
              <a:lnSpc>
                <a:spcPct val="105000"/>
              </a:lnSpc>
              <a:buNone/>
            </a:pPr>
            <a:r>
              <a:rPr lang="en-US" sz="1250" dirty="0">
                <a:solidFill>
                  <a:srgbClr val="16323D"/>
                </a:solidFill>
                <a:latin typeface="Calibri" pitchFamily="34" charset="0"/>
                <a:ea typeface="Calibri" pitchFamily="34" charset="-122"/>
                <a:cs typeface="Calibri" pitchFamily="34" charset="-120"/>
              </a:rPr>
              <a:t>CE seule, nuages denses</a:t>
            </a:r>
            <a:endParaRPr lang="en-US" sz="1250" dirty="0"/>
          </a:p>
        </p:txBody>
      </p:sp>
      <p:sp>
        <p:nvSpPr>
          <p:cNvPr id="8" name="Shape 6"/>
          <p:cNvSpPr/>
          <p:nvPr/>
        </p:nvSpPr>
        <p:spPr>
          <a:xfrm>
            <a:off x="4297680" y="1554480"/>
            <a:ext cx="3566160" cy="1920240"/>
          </a:xfrm>
          <a:prstGeom prst="roundRect">
            <a:avLst>
              <a:gd name="adj" fmla="val 4286"/>
            </a:avLst>
          </a:prstGeom>
          <a:solidFill>
            <a:srgbClr val="F2F6F7"/>
          </a:solidFill>
          <a:ln/>
          <a:effectLst>
            <a:outerShdw sx="100000" sy="100000" kx="0" ky="0" algn="bl" rotWithShape="0" blurRad="88900" dist="25400" dir="5400000">
              <a:srgbClr val="9AAEB5">
                <a:alpha val="35000"/>
              </a:srgbClr>
            </a:outerShdw>
          </a:effectLst>
        </p:spPr>
      </p:sp>
      <p:sp>
        <p:nvSpPr>
          <p:cNvPr id="9" name="Shape 7"/>
          <p:cNvSpPr/>
          <p:nvPr/>
        </p:nvSpPr>
        <p:spPr>
          <a:xfrm>
            <a:off x="4526280" y="1810512"/>
            <a:ext cx="530352" cy="530352"/>
          </a:xfrm>
          <a:prstGeom prst="ellipse">
            <a:avLst/>
          </a:prstGeom>
          <a:solidFill>
            <a:srgbClr val="E76F51"/>
          </a:solidFill>
          <a:ln/>
        </p:spPr>
      </p:sp>
      <p:sp>
        <p:nvSpPr>
          <p:cNvPr id="10" name="Text 8"/>
          <p:cNvSpPr txBox="1"/>
          <p:nvPr/>
        </p:nvSpPr>
        <p:spPr>
          <a:xfrm>
            <a:off x="4526280" y="181051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5212080" y="1801368"/>
            <a:ext cx="2560320" cy="548640"/>
          </a:xfrm>
          <a:prstGeom prst="rect">
            <a:avLst/>
          </a:prstGeom>
          <a:noFill/>
          <a:ln/>
        </p:spPr>
        <p:txBody>
          <a:bodyPr wrap="square" lIns="0" tIns="0" rIns="0" bIns="0" rtlCol="0" anchor="ctr"/>
          <a:lstStyle/>
          <a:p>
            <a:pPr indent="0" marL="0">
              <a:buNone/>
            </a:pPr>
            <a:r>
              <a:rPr lang="en-US" sz="1550" b="1" dirty="0">
                <a:solidFill>
                  <a:srgbClr val="0B3C5D"/>
                </a:solidFill>
                <a:latin typeface="Cambria" pitchFamily="34" charset="0"/>
                <a:ea typeface="Cambria" pitchFamily="34" charset="-122"/>
                <a:cs typeface="Cambria" pitchFamily="34" charset="-120"/>
              </a:rPr>
              <a:t>aug — le témoin</a:t>
            </a:r>
            <a:endParaRPr lang="en-US" sz="1550" dirty="0"/>
          </a:p>
        </p:txBody>
      </p:sp>
      <p:sp>
        <p:nvSpPr>
          <p:cNvPr id="12" name="Text 10"/>
          <p:cNvSpPr txBox="1"/>
          <p:nvPr/>
        </p:nvSpPr>
        <p:spPr>
          <a:xfrm>
            <a:off x="4572000" y="2468880"/>
            <a:ext cx="3108960" cy="914400"/>
          </a:xfrm>
          <a:prstGeom prst="rect">
            <a:avLst/>
          </a:prstGeom>
          <a:noFill/>
          <a:ln/>
        </p:spPr>
        <p:txBody>
          <a:bodyPr wrap="square" lIns="0" tIns="0" rIns="0" bIns="0" rtlCol="0" anchor="ctr"/>
          <a:lstStyle/>
          <a:p>
            <a:pPr indent="0" marL="0">
              <a:lnSpc>
                <a:spcPct val="105000"/>
              </a:lnSpc>
              <a:buNone/>
            </a:pPr>
            <a:r>
              <a:rPr lang="en-US" sz="1250" dirty="0">
                <a:solidFill>
                  <a:srgbClr val="16323D"/>
                </a:solidFill>
                <a:latin typeface="Calibri" pitchFamily="34" charset="0"/>
                <a:ea typeface="Calibri" pitchFamily="34" charset="-122"/>
                <a:cs typeface="Calibri" pitchFamily="34" charset="-120"/>
              </a:rPr>
              <a:t>CE seule, student voit un nuage sous-échantillonné (N ~ log-U[16, 1024]) — sans teacher</a:t>
            </a:r>
            <a:endParaRPr lang="en-US" sz="1250" dirty="0"/>
          </a:p>
        </p:txBody>
      </p:sp>
      <p:sp>
        <p:nvSpPr>
          <p:cNvPr id="13" name="Shape 11"/>
          <p:cNvSpPr/>
          <p:nvPr/>
        </p:nvSpPr>
        <p:spPr>
          <a:xfrm>
            <a:off x="8046720" y="1554480"/>
            <a:ext cx="3566160" cy="1920240"/>
          </a:xfrm>
          <a:prstGeom prst="roundRect">
            <a:avLst>
              <a:gd name="adj" fmla="val 4286"/>
            </a:avLst>
          </a:prstGeom>
          <a:solidFill>
            <a:srgbClr val="EAF3F3"/>
          </a:solidFill>
          <a:ln/>
          <a:effectLst>
            <a:outerShdw sx="100000" sy="100000" kx="0" ky="0" algn="bl" rotWithShape="0" blurRad="88900" dist="25400" dir="5400000">
              <a:srgbClr val="9AAEB5">
                <a:alpha val="35000"/>
              </a:srgbClr>
            </a:outerShdw>
          </a:effectLst>
        </p:spPr>
      </p:sp>
      <p:sp>
        <p:nvSpPr>
          <p:cNvPr id="14" name="Shape 12"/>
          <p:cNvSpPr/>
          <p:nvPr/>
        </p:nvSpPr>
        <p:spPr>
          <a:xfrm>
            <a:off x="8275320" y="1810512"/>
            <a:ext cx="530352" cy="530352"/>
          </a:xfrm>
          <a:prstGeom prst="ellipse">
            <a:avLst/>
          </a:prstGeom>
          <a:solidFill>
            <a:srgbClr val="1C7293"/>
          </a:solidFill>
          <a:ln/>
        </p:spPr>
      </p:sp>
      <p:sp>
        <p:nvSpPr>
          <p:cNvPr id="15" name="Text 13"/>
          <p:cNvSpPr txBox="1"/>
          <p:nvPr/>
        </p:nvSpPr>
        <p:spPr>
          <a:xfrm>
            <a:off x="8275320" y="181051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8961120" y="1801368"/>
            <a:ext cx="2560320" cy="548640"/>
          </a:xfrm>
          <a:prstGeom prst="rect">
            <a:avLst/>
          </a:prstGeom>
          <a:noFill/>
          <a:ln/>
        </p:spPr>
        <p:txBody>
          <a:bodyPr wrap="square" lIns="0" tIns="0" rIns="0" bIns="0" rtlCol="0" anchor="ctr"/>
          <a:lstStyle/>
          <a:p>
            <a:pPr indent="0" marL="0">
              <a:buNone/>
            </a:pPr>
            <a:r>
              <a:rPr lang="en-US" sz="1550" b="1" dirty="0">
                <a:solidFill>
                  <a:srgbClr val="0B3C5D"/>
                </a:solidFill>
                <a:latin typeface="Cambria" pitchFamily="34" charset="0"/>
                <a:ea typeface="Cambria" pitchFamily="34" charset="-122"/>
                <a:cs typeface="Cambria" pitchFamily="34" charset="-120"/>
              </a:rPr>
              <a:t>KD logit (Hinton)</a:t>
            </a:r>
            <a:endParaRPr lang="en-US" sz="1550" dirty="0"/>
          </a:p>
        </p:txBody>
      </p:sp>
      <p:sp>
        <p:nvSpPr>
          <p:cNvPr id="17" name="Text 15"/>
          <p:cNvSpPr txBox="1"/>
          <p:nvPr/>
        </p:nvSpPr>
        <p:spPr>
          <a:xfrm>
            <a:off x="8321040" y="2468880"/>
            <a:ext cx="3108960" cy="914400"/>
          </a:xfrm>
          <a:prstGeom prst="rect">
            <a:avLst/>
          </a:prstGeom>
          <a:noFill/>
          <a:ln/>
        </p:spPr>
        <p:txBody>
          <a:bodyPr wrap="square" lIns="0" tIns="0" rIns="0" bIns="0" rtlCol="0" anchor="ctr"/>
          <a:lstStyle/>
          <a:p>
            <a:pPr indent="0" marL="0">
              <a:lnSpc>
                <a:spcPct val="105000"/>
              </a:lnSpc>
              <a:buNone/>
            </a:pPr>
            <a:r>
              <a:rPr lang="en-US" sz="1250" dirty="0">
                <a:solidFill>
                  <a:srgbClr val="16323D"/>
                </a:solidFill>
                <a:latin typeface="Calibri" pitchFamily="34" charset="0"/>
                <a:ea typeface="Calibri" pitchFamily="34" charset="-122"/>
                <a:cs typeface="Calibri" pitchFamily="34" charset="-120"/>
              </a:rPr>
              <a:t>α·CE + (1-α)·T²·KL(z_s/T ‖ z_t/T), teacher gelé, entrées denses</a:t>
            </a:r>
            <a:endParaRPr lang="en-US" sz="1250" dirty="0"/>
          </a:p>
        </p:txBody>
      </p:sp>
      <p:sp>
        <p:nvSpPr>
          <p:cNvPr id="18" name="Shape 16"/>
          <p:cNvSpPr/>
          <p:nvPr/>
        </p:nvSpPr>
        <p:spPr>
          <a:xfrm>
            <a:off x="548640" y="3703320"/>
            <a:ext cx="3566160" cy="1920240"/>
          </a:xfrm>
          <a:prstGeom prst="roundRect">
            <a:avLst>
              <a:gd name="adj" fmla="val 4286"/>
            </a:avLst>
          </a:prstGeom>
          <a:solidFill>
            <a:srgbClr val="EAF3F3"/>
          </a:solidFill>
          <a:ln/>
          <a:effectLst>
            <a:outerShdw sx="100000" sy="100000" kx="0" ky="0" algn="bl" rotWithShape="0" blurRad="88900" dist="25400" dir="5400000">
              <a:srgbClr val="9AAEB5">
                <a:alpha val="35000"/>
              </a:srgbClr>
            </a:outerShdw>
          </a:effectLst>
        </p:spPr>
      </p:sp>
      <p:sp>
        <p:nvSpPr>
          <p:cNvPr id="19" name="Shape 17"/>
          <p:cNvSpPr/>
          <p:nvPr/>
        </p:nvSpPr>
        <p:spPr>
          <a:xfrm>
            <a:off x="777240" y="3959352"/>
            <a:ext cx="530352" cy="530352"/>
          </a:xfrm>
          <a:prstGeom prst="ellipse">
            <a:avLst/>
          </a:prstGeom>
          <a:solidFill>
            <a:srgbClr val="1C7293"/>
          </a:solidFill>
          <a:ln/>
        </p:spPr>
      </p:sp>
      <p:sp>
        <p:nvSpPr>
          <p:cNvPr id="20" name="Text 18"/>
          <p:cNvSpPr txBox="1"/>
          <p:nvPr/>
        </p:nvSpPr>
        <p:spPr>
          <a:xfrm>
            <a:off x="777240" y="395935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9"/>
          <p:cNvSpPr txBox="1"/>
          <p:nvPr/>
        </p:nvSpPr>
        <p:spPr>
          <a:xfrm>
            <a:off x="1463040" y="3950208"/>
            <a:ext cx="2560320" cy="548640"/>
          </a:xfrm>
          <a:prstGeom prst="rect">
            <a:avLst/>
          </a:prstGeom>
          <a:noFill/>
          <a:ln/>
        </p:spPr>
        <p:txBody>
          <a:bodyPr wrap="square" lIns="0" tIns="0" rIns="0" bIns="0" rtlCol="0" anchor="ctr"/>
          <a:lstStyle/>
          <a:p>
            <a:pPr indent="0" marL="0">
              <a:buNone/>
            </a:pPr>
            <a:r>
              <a:rPr lang="en-US" sz="1550" b="1" dirty="0">
                <a:solidFill>
                  <a:srgbClr val="0B3C5D"/>
                </a:solidFill>
                <a:latin typeface="Cambria" pitchFamily="34" charset="0"/>
                <a:ea typeface="Cambria" pitchFamily="34" charset="-122"/>
                <a:cs typeface="Cambria" pitchFamily="34" charset="-120"/>
              </a:rPr>
              <a:t>KD robuste</a:t>
            </a:r>
            <a:endParaRPr lang="en-US" sz="1550" dirty="0"/>
          </a:p>
        </p:txBody>
      </p:sp>
      <p:sp>
        <p:nvSpPr>
          <p:cNvPr id="22" name="Text 20"/>
          <p:cNvSpPr txBox="1"/>
          <p:nvPr/>
        </p:nvSpPr>
        <p:spPr>
          <a:xfrm>
            <a:off x="822960" y="4617720"/>
            <a:ext cx="3108960" cy="914400"/>
          </a:xfrm>
          <a:prstGeom prst="rect">
            <a:avLst/>
          </a:prstGeom>
          <a:noFill/>
          <a:ln/>
        </p:spPr>
        <p:txBody>
          <a:bodyPr wrap="square" lIns="0" tIns="0" rIns="0" bIns="0" rtlCol="0" anchor="ctr"/>
          <a:lstStyle/>
          <a:p>
            <a:pPr indent="0" marL="0">
              <a:lnSpc>
                <a:spcPct val="105000"/>
              </a:lnSpc>
              <a:buNone/>
            </a:pPr>
            <a:r>
              <a:rPr lang="en-US" sz="1250" dirty="0">
                <a:solidFill>
                  <a:srgbClr val="16323D"/>
                </a:solidFill>
                <a:latin typeface="Calibri" pitchFamily="34" charset="0"/>
                <a:ea typeface="Calibri" pitchFamily="34" charset="-122"/>
                <a:cs typeface="Calibri" pitchFamily="34" charset="-120"/>
              </a:rPr>
              <a:t>teacher voit le nuage dense, student un nuage sous-échantillonné</a:t>
            </a:r>
            <a:endParaRPr lang="en-US" sz="1250" dirty="0"/>
          </a:p>
        </p:txBody>
      </p:sp>
      <p:sp>
        <p:nvSpPr>
          <p:cNvPr id="23" name="Shape 21"/>
          <p:cNvSpPr/>
          <p:nvPr/>
        </p:nvSpPr>
        <p:spPr>
          <a:xfrm>
            <a:off x="4297680" y="3703320"/>
            <a:ext cx="3566160" cy="1920240"/>
          </a:xfrm>
          <a:prstGeom prst="roundRect">
            <a:avLst>
              <a:gd name="adj" fmla="val 4286"/>
            </a:avLst>
          </a:prstGeom>
          <a:solidFill>
            <a:srgbClr val="EAF3F3"/>
          </a:solidFill>
          <a:ln/>
          <a:effectLst>
            <a:outerShdw sx="100000" sy="100000" kx="0" ky="0" algn="bl" rotWithShape="0" blurRad="88900" dist="25400" dir="5400000">
              <a:srgbClr val="9AAEB5">
                <a:alpha val="35000"/>
              </a:srgbClr>
            </a:outerShdw>
          </a:effectLst>
        </p:spPr>
      </p:sp>
      <p:sp>
        <p:nvSpPr>
          <p:cNvPr id="24" name="Shape 22"/>
          <p:cNvSpPr/>
          <p:nvPr/>
        </p:nvSpPr>
        <p:spPr>
          <a:xfrm>
            <a:off x="4526280" y="3959352"/>
            <a:ext cx="530352" cy="530352"/>
          </a:xfrm>
          <a:prstGeom prst="ellipse">
            <a:avLst/>
          </a:prstGeom>
          <a:solidFill>
            <a:srgbClr val="1C7293"/>
          </a:solidFill>
          <a:ln/>
        </p:spPr>
      </p:sp>
      <p:sp>
        <p:nvSpPr>
          <p:cNvPr id="25" name="Text 23"/>
          <p:cNvSpPr txBox="1"/>
          <p:nvPr/>
        </p:nvSpPr>
        <p:spPr>
          <a:xfrm>
            <a:off x="4526280" y="395935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6" name="Text 24"/>
          <p:cNvSpPr txBox="1"/>
          <p:nvPr/>
        </p:nvSpPr>
        <p:spPr>
          <a:xfrm>
            <a:off x="5212080" y="3950208"/>
            <a:ext cx="2560320" cy="548640"/>
          </a:xfrm>
          <a:prstGeom prst="rect">
            <a:avLst/>
          </a:prstGeom>
          <a:noFill/>
          <a:ln/>
        </p:spPr>
        <p:txBody>
          <a:bodyPr wrap="square" lIns="0" tIns="0" rIns="0" bIns="0" rtlCol="0" anchor="ctr"/>
          <a:lstStyle/>
          <a:p>
            <a:pPr indent="0" marL="0">
              <a:buNone/>
            </a:pPr>
            <a:r>
              <a:rPr lang="en-US" sz="1550" b="1" dirty="0">
                <a:solidFill>
                  <a:srgbClr val="0B3C5D"/>
                </a:solidFill>
                <a:latin typeface="Cambria" pitchFamily="34" charset="0"/>
                <a:ea typeface="Cambria" pitchFamily="34" charset="-122"/>
                <a:cs typeface="Cambria" pitchFamily="34" charset="-120"/>
              </a:rPr>
              <a:t>+ KD de features</a:t>
            </a:r>
            <a:endParaRPr lang="en-US" sz="1550" dirty="0"/>
          </a:p>
        </p:txBody>
      </p:sp>
      <p:sp>
        <p:nvSpPr>
          <p:cNvPr id="27" name="Text 25"/>
          <p:cNvSpPr txBox="1"/>
          <p:nvPr/>
        </p:nvSpPr>
        <p:spPr>
          <a:xfrm>
            <a:off x="4572000" y="4617720"/>
            <a:ext cx="3108960" cy="914400"/>
          </a:xfrm>
          <a:prstGeom prst="rect">
            <a:avLst/>
          </a:prstGeom>
          <a:noFill/>
          <a:ln/>
        </p:spPr>
        <p:txBody>
          <a:bodyPr wrap="square" lIns="0" tIns="0" rIns="0" bIns="0" rtlCol="0" anchor="ctr"/>
          <a:lstStyle/>
          <a:p>
            <a:pPr indent="0" marL="0">
              <a:lnSpc>
                <a:spcPct val="105000"/>
              </a:lnSpc>
              <a:buNone/>
            </a:pPr>
            <a:r>
              <a:rPr lang="en-US" sz="1250" dirty="0">
                <a:solidFill>
                  <a:srgbClr val="16323D"/>
                </a:solidFill>
                <a:latin typeface="Calibri" pitchFamily="34" charset="0"/>
                <a:ea typeface="Calibri" pitchFamily="34" charset="-122"/>
                <a:cs typeface="Calibri" pitchFamily="34" charset="-120"/>
              </a:rPr>
              <a:t>+ alignement des vecteurs globaux g (projection 256 → 1024)</a:t>
            </a:r>
            <a:endParaRPr lang="en-US" sz="1250" dirty="0"/>
          </a:p>
        </p:txBody>
      </p:sp>
      <p:sp>
        <p:nvSpPr>
          <p:cNvPr id="28" name="Shape 26"/>
          <p:cNvSpPr/>
          <p:nvPr/>
        </p:nvSpPr>
        <p:spPr>
          <a:xfrm>
            <a:off x="8046720" y="3703320"/>
            <a:ext cx="3566160" cy="1920240"/>
          </a:xfrm>
          <a:prstGeom prst="roundRect">
            <a:avLst>
              <a:gd name="adj" fmla="val 4286"/>
            </a:avLst>
          </a:prstGeom>
          <a:solidFill>
            <a:srgbClr val="EAF3F3"/>
          </a:solidFill>
          <a:ln/>
          <a:effectLst>
            <a:outerShdw sx="100000" sy="100000" kx="0" ky="0" algn="bl" rotWithShape="0" blurRad="88900" dist="25400" dir="5400000">
              <a:srgbClr val="9AAEB5">
                <a:alpha val="35000"/>
              </a:srgbClr>
            </a:outerShdw>
          </a:effectLst>
        </p:spPr>
      </p:sp>
      <p:sp>
        <p:nvSpPr>
          <p:cNvPr id="29" name="Shape 27"/>
          <p:cNvSpPr/>
          <p:nvPr/>
        </p:nvSpPr>
        <p:spPr>
          <a:xfrm>
            <a:off x="8275320" y="3959352"/>
            <a:ext cx="530352" cy="530352"/>
          </a:xfrm>
          <a:prstGeom prst="ellipse">
            <a:avLst/>
          </a:prstGeom>
          <a:solidFill>
            <a:srgbClr val="1C7293"/>
          </a:solidFill>
          <a:ln/>
        </p:spPr>
      </p:sp>
      <p:sp>
        <p:nvSpPr>
          <p:cNvPr id="30" name="Text 28"/>
          <p:cNvSpPr txBox="1"/>
          <p:nvPr/>
        </p:nvSpPr>
        <p:spPr>
          <a:xfrm>
            <a:off x="8275320" y="395935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1" name="Text 29"/>
          <p:cNvSpPr txBox="1"/>
          <p:nvPr/>
        </p:nvSpPr>
        <p:spPr>
          <a:xfrm>
            <a:off x="8961120" y="3950208"/>
            <a:ext cx="2560320" cy="548640"/>
          </a:xfrm>
          <a:prstGeom prst="rect">
            <a:avLst/>
          </a:prstGeom>
          <a:noFill/>
          <a:ln/>
        </p:spPr>
        <p:txBody>
          <a:bodyPr wrap="square" lIns="0" tIns="0" rIns="0" bIns="0" rtlCol="0" anchor="ctr"/>
          <a:lstStyle/>
          <a:p>
            <a:pPr indent="0" marL="0">
              <a:buNone/>
            </a:pPr>
            <a:r>
              <a:rPr lang="en-US" sz="1550" b="1" dirty="0">
                <a:solidFill>
                  <a:srgbClr val="0B3C5D"/>
                </a:solidFill>
                <a:latin typeface="Cambria" pitchFamily="34" charset="0"/>
                <a:ea typeface="Cambria" pitchFamily="34" charset="-122"/>
                <a:cs typeface="Cambria" pitchFamily="34" charset="-120"/>
              </a:rPr>
              <a:t>KD robuste, teacher robuste</a:t>
            </a:r>
            <a:endParaRPr lang="en-US" sz="1550" dirty="0"/>
          </a:p>
        </p:txBody>
      </p:sp>
      <p:sp>
        <p:nvSpPr>
          <p:cNvPr id="32" name="Text 30"/>
          <p:cNvSpPr txBox="1"/>
          <p:nvPr/>
        </p:nvSpPr>
        <p:spPr>
          <a:xfrm>
            <a:off x="8321040" y="4617720"/>
            <a:ext cx="3108960" cy="914400"/>
          </a:xfrm>
          <a:prstGeom prst="rect">
            <a:avLst/>
          </a:prstGeom>
          <a:noFill/>
          <a:ln/>
        </p:spPr>
        <p:txBody>
          <a:bodyPr wrap="square" lIns="0" tIns="0" rIns="0" bIns="0" rtlCol="0" anchor="ctr"/>
          <a:lstStyle/>
          <a:p>
            <a:pPr indent="0" marL="0">
              <a:lnSpc>
                <a:spcPct val="105000"/>
              </a:lnSpc>
              <a:buNone/>
            </a:pPr>
            <a:r>
              <a:rPr lang="en-US" sz="1250" dirty="0">
                <a:solidFill>
                  <a:srgbClr val="16323D"/>
                </a:solidFill>
                <a:latin typeface="Calibri" pitchFamily="34" charset="0"/>
                <a:ea typeface="Calibri" pitchFamily="34" charset="-122"/>
                <a:cs typeface="Calibri" pitchFamily="34" charset="-120"/>
              </a:rPr>
              <a:t>teacher lui-même entraîné avec sous-échantillonnage</a:t>
            </a:r>
            <a:endParaRPr lang="en-US" sz="1250" dirty="0"/>
          </a:p>
        </p:txBody>
      </p:sp>
      <p:sp>
        <p:nvSpPr>
          <p:cNvPr id="33" name="Text 31"/>
          <p:cNvSpPr txBox="1"/>
          <p:nvPr/>
        </p:nvSpPr>
        <p:spPr>
          <a:xfrm>
            <a:off x="548640" y="5943600"/>
            <a:ext cx="11064240" cy="457200"/>
          </a:xfrm>
          <a:prstGeom prst="rect">
            <a:avLst/>
          </a:prstGeom>
          <a:noFill/>
          <a:ln/>
        </p:spPr>
        <p:txBody>
          <a:bodyPr wrap="square" lIns="0" tIns="0" rIns="0" bIns="0" rtlCol="0" anchor="ctr"/>
          <a:lstStyle/>
          <a:p>
            <a:pPr indent="0" marL="0">
              <a:buNone/>
            </a:pPr>
            <a:r>
              <a:rPr lang="en-US" sz="1300" i="1" dirty="0">
                <a:solidFill>
                  <a:srgbClr val="6B7B84"/>
                </a:solidFill>
                <a:latin typeface="Calibri" pitchFamily="34" charset="0"/>
                <a:ea typeface="Calibri" pitchFamily="34" charset="-122"/>
                <a:cs typeface="Calibri" pitchFamily="34" charset="-120"/>
              </a:rPr>
              <a:t>Le témoin « aug » voit exactement les mêmes entrées que la KD robuste : tout écart entre les deux est attribuable au teacher.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Résultats — courbes de robustesse (AUC test)</a:t>
            </a:r>
            <a:endParaRPr lang="en-US" sz="3200" dirty="0"/>
          </a:p>
        </p:txBody>
      </p:sp>
      <p:graphicFrame>
        <p:nvGraphicFramePr>
          <p:cNvPr id="3" name="Chart 0" descr=""/>
          <p:cNvGraphicFramePr/>
          <p:nvPr/>
        </p:nvGraphicFramePr>
        <p:xfrm>
          <a:off x="548640" y="1417320"/>
          <a:ext cx="740664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183880" y="1554480"/>
            <a:ext cx="3429000" cy="4572000"/>
          </a:xfrm>
          <a:prstGeom prst="roundRect">
            <a:avLst>
              <a:gd name="adj" fmla="val 2400"/>
            </a:avLst>
          </a:prstGeom>
          <a:solidFill>
            <a:srgbClr val="08293A"/>
          </a:solidFill>
          <a:ln/>
          <a:effectLst>
            <a:outerShdw sx="100000" sy="100000" kx="0" ky="0" algn="bl" rotWithShape="0" blurRad="88900" dist="25400" dir="5400000">
              <a:srgbClr val="9AAEB5">
                <a:alpha val="35000"/>
              </a:srgbClr>
            </a:outerShdw>
          </a:effectLst>
        </p:spPr>
      </p:sp>
      <p:sp>
        <p:nvSpPr>
          <p:cNvPr id="5" name="Text 2"/>
          <p:cNvSpPr txBox="1"/>
          <p:nvPr/>
        </p:nvSpPr>
        <p:spPr>
          <a:xfrm>
            <a:off x="8412480" y="1783080"/>
            <a:ext cx="3017520" cy="365760"/>
          </a:xfrm>
          <a:prstGeom prst="rect">
            <a:avLst/>
          </a:prstGeom>
          <a:noFill/>
          <a:ln/>
        </p:spPr>
        <p:txBody>
          <a:bodyPr wrap="square" lIns="0" tIns="0" rIns="0" bIns="0" rtlCol="0" anchor="ctr"/>
          <a:lstStyle/>
          <a:p>
            <a:pPr indent="0" marL="0">
              <a:buNone/>
            </a:pPr>
            <a:r>
              <a:rPr lang="en-US" sz="1700" b="1" dirty="0">
                <a:solidFill>
                  <a:srgbClr val="2EC4B6"/>
                </a:solidFill>
                <a:latin typeface="Cambria" pitchFamily="34" charset="0"/>
                <a:ea typeface="Cambria" pitchFamily="34" charset="-122"/>
                <a:cs typeface="Cambria" pitchFamily="34" charset="-120"/>
              </a:rPr>
              <a:t>À retenir</a:t>
            </a:r>
            <a:endParaRPr lang="en-US" sz="1700" dirty="0"/>
          </a:p>
        </p:txBody>
      </p:sp>
      <p:sp>
        <p:nvSpPr>
          <p:cNvPr id="6" name="Text 3"/>
          <p:cNvSpPr txBox="1"/>
          <p:nvPr/>
        </p:nvSpPr>
        <p:spPr>
          <a:xfrm>
            <a:off x="8503920" y="2286000"/>
            <a:ext cx="2971800" cy="3657600"/>
          </a:xfrm>
          <a:prstGeom prst="rect">
            <a:avLst/>
          </a:prstGeom>
          <a:noFill/>
          <a:ln/>
        </p:spPr>
        <p:txBody>
          <a:bodyPr wrap="square" lIns="0" tIns="0" rIns="0" bIns="0" rtlCol="0" anchor="ctr"/>
          <a:lstStyle/>
          <a:p>
            <a:pPr marL="203200" indent="-203200">
              <a:lnSpc>
                <a:spcPct val="105000"/>
              </a:lnSpc>
              <a:spcAft>
                <a:spcPts val="1100"/>
              </a:spcAft>
              <a:buSzPct val="100000"/>
              <a:buChar char="•"/>
            </a:pPr>
            <a:r>
              <a:rPr lang="en-US" sz="1300" dirty="0">
                <a:solidFill>
                  <a:srgbClr val="E6F2F3"/>
                </a:solidFill>
                <a:latin typeface="Calibri" pitchFamily="34" charset="0"/>
                <a:ea typeface="Calibri" pitchFamily="34" charset="-122"/>
                <a:cs typeface="Calibri" pitchFamily="34" charset="-120"/>
              </a:rPr>
              <a:t>KD robuste ≫ scratch : +0.03 → +0.08 AUC, 5/5 seeds, p ≤ 0.01.</a:t>
            </a:r>
            <a:endParaRPr lang="en-US" sz="1300" dirty="0"/>
          </a:p>
          <a:p>
            <a:pPr marL="203200" indent="-203200">
              <a:lnSpc>
                <a:spcPct val="105000"/>
              </a:lnSpc>
              <a:spcAft>
                <a:spcPts val="1100"/>
              </a:spcAft>
              <a:buSzPct val="100000"/>
              <a:buChar char="•"/>
            </a:pPr>
            <a:r>
              <a:rPr lang="en-US" sz="1300" dirty="0">
                <a:solidFill>
                  <a:srgbClr val="E6F2F3"/>
                </a:solidFill>
                <a:latin typeface="Calibri" pitchFamily="34" charset="0"/>
                <a:ea typeface="Calibri" pitchFamily="34" charset="-122"/>
                <a:cs typeface="Calibri" pitchFamily="34" charset="-120"/>
              </a:rPr>
              <a:t>Mais aug (sans teacher) fait la même chose : les deux courbes se superposent.</a:t>
            </a:r>
            <a:endParaRPr lang="en-US" sz="1300" dirty="0"/>
          </a:p>
          <a:p>
            <a:pPr marL="203200" indent="-203200">
              <a:lnSpc>
                <a:spcPct val="105000"/>
              </a:lnSpc>
              <a:spcAft>
                <a:spcPts val="1100"/>
              </a:spcAft>
              <a:buSzPct val="100000"/>
              <a:buChar char="•"/>
            </a:pPr>
            <a:r>
              <a:rPr lang="en-US" sz="1300" dirty="0">
                <a:solidFill>
                  <a:srgbClr val="E6F2F3"/>
                </a:solidFill>
                <a:latin typeface="Calibri" pitchFamily="34" charset="0"/>
                <a:ea typeface="Calibri" pitchFamily="34" charset="-122"/>
                <a:cs typeface="Calibri" pitchFamily="34" charset="-120"/>
              </a:rPr>
              <a:t>KD logit classique : gain faible et non significatif (p ≥ 0.08).</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Le test décisif — KD robuste vs témoin aug</a:t>
            </a:r>
            <a:endParaRPr lang="en-US" sz="3200" dirty="0"/>
          </a:p>
        </p:txBody>
      </p:sp>
      <p:sp>
        <p:nvSpPr>
          <p:cNvPr id="3" name="Shape 1"/>
          <p:cNvSpPr/>
          <p:nvPr/>
        </p:nvSpPr>
        <p:spPr>
          <a:xfrm>
            <a:off x="548640" y="1508760"/>
            <a:ext cx="2697480" cy="1737360"/>
          </a:xfrm>
          <a:prstGeom prst="roundRect">
            <a:avLst>
              <a:gd name="adj" fmla="val 4737"/>
            </a:avLst>
          </a:prstGeom>
          <a:solidFill>
            <a:srgbClr val="EAF3F3"/>
          </a:solidFill>
          <a:ln/>
          <a:effectLst>
            <a:outerShdw sx="100000" sy="100000" kx="0" ky="0" algn="bl" rotWithShape="0" blurRad="88900" dist="25400" dir="5400000">
              <a:srgbClr val="9AAEB5">
                <a:alpha val="35000"/>
              </a:srgbClr>
            </a:outerShdw>
          </a:effectLst>
        </p:spPr>
      </p:sp>
      <p:sp>
        <p:nvSpPr>
          <p:cNvPr id="4" name="Text 2"/>
          <p:cNvSpPr txBox="1"/>
          <p:nvPr/>
        </p:nvSpPr>
        <p:spPr>
          <a:xfrm>
            <a:off x="548640" y="1645920"/>
            <a:ext cx="2697480" cy="731520"/>
          </a:xfrm>
          <a:prstGeom prst="rect">
            <a:avLst/>
          </a:prstGeom>
          <a:noFill/>
          <a:ln/>
        </p:spPr>
        <p:txBody>
          <a:bodyPr wrap="square" lIns="0" tIns="0" rIns="0" bIns="0" rtlCol="0" anchor="ctr"/>
          <a:lstStyle/>
          <a:p>
            <a:pPr algn="ctr" indent="0" marL="0">
              <a:buNone/>
            </a:pPr>
            <a:r>
              <a:rPr lang="en-US" sz="3400" b="1" dirty="0">
                <a:solidFill>
                  <a:srgbClr val="1C7293"/>
                </a:solidFill>
                <a:latin typeface="Cambria" pitchFamily="34" charset="0"/>
                <a:ea typeface="Cambria" pitchFamily="34" charset="-122"/>
                <a:cs typeface="Cambria" pitchFamily="34" charset="-120"/>
              </a:rPr>
              <a:t>+0.08</a:t>
            </a:r>
            <a:endParaRPr lang="en-US" sz="3400" dirty="0"/>
          </a:p>
        </p:txBody>
      </p:sp>
      <p:sp>
        <p:nvSpPr>
          <p:cNvPr id="5" name="Text 3"/>
          <p:cNvSpPr txBox="1"/>
          <p:nvPr/>
        </p:nvSpPr>
        <p:spPr>
          <a:xfrm>
            <a:off x="685800" y="2377440"/>
            <a:ext cx="2423160" cy="777240"/>
          </a:xfrm>
          <a:prstGeom prst="rect">
            <a:avLst/>
          </a:prstGeom>
          <a:noFill/>
          <a:ln/>
        </p:spPr>
        <p:txBody>
          <a:bodyPr wrap="square" lIns="0" tIns="0" rIns="0" bIns="0" rtlCol="0" anchor="ctr"/>
          <a:lstStyle/>
          <a:p>
            <a:pPr algn="ctr" indent="0" marL="0">
              <a:buNone/>
            </a:pPr>
            <a:r>
              <a:rPr lang="en-US" sz="1250" dirty="0">
                <a:solidFill>
                  <a:srgbClr val="6B7B84"/>
                </a:solidFill>
                <a:latin typeface="Calibri" pitchFamily="34" charset="0"/>
                <a:ea typeface="Calibri" pitchFamily="34" charset="-122"/>
                <a:cs typeface="Calibri" pitchFamily="34" charset="-120"/>
              </a:rPr>
              <a:t>KD robuste − scratch</a:t>
            </a:r>
            <a:endParaRPr lang="en-US" sz="1250" dirty="0"/>
          </a:p>
          <a:p>
            <a:pPr algn="ctr" indent="0" marL="0">
              <a:buNone/>
            </a:pPr>
            <a:r>
              <a:rPr lang="en-US" sz="1250" dirty="0">
                <a:solidFill>
                  <a:srgbClr val="6B7B84"/>
                </a:solidFill>
                <a:latin typeface="Calibri" pitchFamily="34" charset="0"/>
                <a:ea typeface="Calibri" pitchFamily="34" charset="-122"/>
                <a:cs typeface="Calibri" pitchFamily="34" charset="-120"/>
              </a:rPr>
              <a:t>(64 pts, p &lt; 0.01, 5/5)</a:t>
            </a:r>
            <a:endParaRPr lang="en-US" sz="1250" dirty="0"/>
          </a:p>
        </p:txBody>
      </p:sp>
      <p:sp>
        <p:nvSpPr>
          <p:cNvPr id="6" name="Shape 4"/>
          <p:cNvSpPr/>
          <p:nvPr/>
        </p:nvSpPr>
        <p:spPr>
          <a:xfrm>
            <a:off x="3410712" y="1508760"/>
            <a:ext cx="2697480" cy="1737360"/>
          </a:xfrm>
          <a:prstGeom prst="roundRect">
            <a:avLst>
              <a:gd name="adj" fmla="val 4737"/>
            </a:avLst>
          </a:prstGeom>
          <a:solidFill>
            <a:srgbClr val="F2F6F7"/>
          </a:solidFill>
          <a:ln/>
          <a:effectLst>
            <a:outerShdw sx="100000" sy="100000" kx="0" ky="0" algn="bl" rotWithShape="0" blurRad="88900" dist="25400" dir="5400000">
              <a:srgbClr val="9AAEB5">
                <a:alpha val="35000"/>
              </a:srgbClr>
            </a:outerShdw>
          </a:effectLst>
        </p:spPr>
      </p:sp>
      <p:sp>
        <p:nvSpPr>
          <p:cNvPr id="7" name="Text 5"/>
          <p:cNvSpPr txBox="1"/>
          <p:nvPr/>
        </p:nvSpPr>
        <p:spPr>
          <a:xfrm>
            <a:off x="3410712" y="1645920"/>
            <a:ext cx="2697480" cy="731520"/>
          </a:xfrm>
          <a:prstGeom prst="rect">
            <a:avLst/>
          </a:prstGeom>
          <a:noFill/>
          <a:ln/>
        </p:spPr>
        <p:txBody>
          <a:bodyPr wrap="square" lIns="0" tIns="0" rIns="0" bIns="0" rtlCol="0" anchor="ctr"/>
          <a:lstStyle/>
          <a:p>
            <a:pPr algn="ctr" indent="0" marL="0">
              <a:buNone/>
            </a:pPr>
            <a:r>
              <a:rPr lang="en-US" sz="3400" b="1" dirty="0">
                <a:solidFill>
                  <a:srgbClr val="1C7293"/>
                </a:solidFill>
                <a:latin typeface="Cambria" pitchFamily="34" charset="0"/>
                <a:ea typeface="Cambria" pitchFamily="34" charset="-122"/>
                <a:cs typeface="Cambria" pitchFamily="34" charset="-120"/>
              </a:rPr>
              <a:t>+0.08</a:t>
            </a:r>
            <a:endParaRPr lang="en-US" sz="3400" dirty="0"/>
          </a:p>
        </p:txBody>
      </p:sp>
      <p:sp>
        <p:nvSpPr>
          <p:cNvPr id="8" name="Text 6"/>
          <p:cNvSpPr txBox="1"/>
          <p:nvPr/>
        </p:nvSpPr>
        <p:spPr>
          <a:xfrm>
            <a:off x="3547872" y="2377440"/>
            <a:ext cx="2423160" cy="777240"/>
          </a:xfrm>
          <a:prstGeom prst="rect">
            <a:avLst/>
          </a:prstGeom>
          <a:noFill/>
          <a:ln/>
        </p:spPr>
        <p:txBody>
          <a:bodyPr wrap="square" lIns="0" tIns="0" rIns="0" bIns="0" rtlCol="0" anchor="ctr"/>
          <a:lstStyle/>
          <a:p>
            <a:pPr algn="ctr" indent="0" marL="0">
              <a:buNone/>
            </a:pPr>
            <a:r>
              <a:rPr lang="en-US" sz="1250" dirty="0">
                <a:solidFill>
                  <a:srgbClr val="6B7B84"/>
                </a:solidFill>
                <a:latin typeface="Calibri" pitchFamily="34" charset="0"/>
                <a:ea typeface="Calibri" pitchFamily="34" charset="-122"/>
                <a:cs typeface="Calibri" pitchFamily="34" charset="-120"/>
              </a:rPr>
              <a:t>aug − scratch</a:t>
            </a:r>
            <a:endParaRPr lang="en-US" sz="1250" dirty="0"/>
          </a:p>
          <a:p>
            <a:pPr algn="ctr" indent="0" marL="0">
              <a:buNone/>
            </a:pPr>
            <a:r>
              <a:rPr lang="en-US" sz="1250" dirty="0">
                <a:solidFill>
                  <a:srgbClr val="6B7B84"/>
                </a:solidFill>
                <a:latin typeface="Calibri" pitchFamily="34" charset="0"/>
                <a:ea typeface="Calibri" pitchFamily="34" charset="-122"/>
                <a:cs typeface="Calibri" pitchFamily="34" charset="-120"/>
              </a:rPr>
              <a:t>(64 pts, p &lt; 0.01, 5/5)</a:t>
            </a:r>
            <a:endParaRPr lang="en-US" sz="1250" dirty="0"/>
          </a:p>
        </p:txBody>
      </p:sp>
      <p:sp>
        <p:nvSpPr>
          <p:cNvPr id="9" name="Shape 7"/>
          <p:cNvSpPr/>
          <p:nvPr/>
        </p:nvSpPr>
        <p:spPr>
          <a:xfrm>
            <a:off x="6272784" y="1508760"/>
            <a:ext cx="2697480" cy="1737360"/>
          </a:xfrm>
          <a:prstGeom prst="roundRect">
            <a:avLst>
              <a:gd name="adj" fmla="val 4737"/>
            </a:avLst>
          </a:prstGeom>
          <a:solidFill>
            <a:srgbClr val="EAF3F3"/>
          </a:solidFill>
          <a:ln/>
          <a:effectLst>
            <a:outerShdw sx="100000" sy="100000" kx="0" ky="0" algn="bl" rotWithShape="0" blurRad="88900" dist="25400" dir="5400000">
              <a:srgbClr val="9AAEB5">
                <a:alpha val="35000"/>
              </a:srgbClr>
            </a:outerShdw>
          </a:effectLst>
        </p:spPr>
      </p:sp>
      <p:sp>
        <p:nvSpPr>
          <p:cNvPr id="10" name="Text 8"/>
          <p:cNvSpPr txBox="1"/>
          <p:nvPr/>
        </p:nvSpPr>
        <p:spPr>
          <a:xfrm>
            <a:off x="6272784" y="1645920"/>
            <a:ext cx="2697480" cy="731520"/>
          </a:xfrm>
          <a:prstGeom prst="rect">
            <a:avLst/>
          </a:prstGeom>
          <a:noFill/>
          <a:ln/>
        </p:spPr>
        <p:txBody>
          <a:bodyPr wrap="square" lIns="0" tIns="0" rIns="0" bIns="0" rtlCol="0" anchor="ctr"/>
          <a:lstStyle/>
          <a:p>
            <a:pPr algn="ctr" indent="0" marL="0">
              <a:buNone/>
            </a:pPr>
            <a:r>
              <a:rPr lang="en-US" sz="3400" b="1" dirty="0">
                <a:solidFill>
                  <a:srgbClr val="E76F51"/>
                </a:solidFill>
                <a:latin typeface="Cambria" pitchFamily="34" charset="0"/>
                <a:ea typeface="Cambria" pitchFamily="34" charset="-122"/>
                <a:cs typeface="Cambria" pitchFamily="34" charset="-120"/>
              </a:rPr>
              <a:t>≈ 0</a:t>
            </a:r>
            <a:endParaRPr lang="en-US" sz="3400" dirty="0"/>
          </a:p>
        </p:txBody>
      </p:sp>
      <p:sp>
        <p:nvSpPr>
          <p:cNvPr id="11" name="Text 9"/>
          <p:cNvSpPr txBox="1"/>
          <p:nvPr/>
        </p:nvSpPr>
        <p:spPr>
          <a:xfrm>
            <a:off x="6409944" y="2377440"/>
            <a:ext cx="2423160" cy="777240"/>
          </a:xfrm>
          <a:prstGeom prst="rect">
            <a:avLst/>
          </a:prstGeom>
          <a:noFill/>
          <a:ln/>
        </p:spPr>
        <p:txBody>
          <a:bodyPr wrap="square" lIns="0" tIns="0" rIns="0" bIns="0" rtlCol="0" anchor="ctr"/>
          <a:lstStyle/>
          <a:p>
            <a:pPr algn="ctr" indent="0" marL="0">
              <a:buNone/>
            </a:pPr>
            <a:r>
              <a:rPr lang="en-US" sz="1250" dirty="0">
                <a:solidFill>
                  <a:srgbClr val="6B7B84"/>
                </a:solidFill>
                <a:latin typeface="Calibri" pitchFamily="34" charset="0"/>
                <a:ea typeface="Calibri" pitchFamily="34" charset="-122"/>
                <a:cs typeface="Calibri" pitchFamily="34" charset="-120"/>
              </a:rPr>
              <a:t>KD robuste − aug</a:t>
            </a:r>
            <a:endParaRPr lang="en-US" sz="1250" dirty="0"/>
          </a:p>
          <a:p>
            <a:pPr algn="ctr" indent="0" marL="0">
              <a:buNone/>
            </a:pPr>
            <a:r>
              <a:rPr lang="en-US" sz="1250" dirty="0">
                <a:solidFill>
                  <a:srgbClr val="6B7B84"/>
                </a:solidFill>
                <a:latin typeface="Calibri" pitchFamily="34" charset="0"/>
                <a:ea typeface="Calibri" pitchFamily="34" charset="-122"/>
                <a:cs typeface="Calibri" pitchFamily="34" charset="-120"/>
              </a:rPr>
              <a:t>(|Δ| ≤ 0.004, p ≥ 0.69)</a:t>
            </a:r>
            <a:endParaRPr lang="en-US" sz="1250" dirty="0"/>
          </a:p>
        </p:txBody>
      </p:sp>
      <p:sp>
        <p:nvSpPr>
          <p:cNvPr id="12" name="Shape 10"/>
          <p:cNvSpPr/>
          <p:nvPr/>
        </p:nvSpPr>
        <p:spPr>
          <a:xfrm>
            <a:off x="9134856" y="1508760"/>
            <a:ext cx="2697480" cy="1737360"/>
          </a:xfrm>
          <a:prstGeom prst="roundRect">
            <a:avLst>
              <a:gd name="adj" fmla="val 4737"/>
            </a:avLst>
          </a:prstGeom>
          <a:solidFill>
            <a:srgbClr val="F2F6F7"/>
          </a:solidFill>
          <a:ln/>
          <a:effectLst>
            <a:outerShdw sx="100000" sy="100000" kx="0" ky="0" algn="bl" rotWithShape="0" blurRad="88900" dist="25400" dir="5400000">
              <a:srgbClr val="9AAEB5">
                <a:alpha val="35000"/>
              </a:srgbClr>
            </a:outerShdw>
          </a:effectLst>
        </p:spPr>
      </p:sp>
      <p:sp>
        <p:nvSpPr>
          <p:cNvPr id="13" name="Text 11"/>
          <p:cNvSpPr txBox="1"/>
          <p:nvPr/>
        </p:nvSpPr>
        <p:spPr>
          <a:xfrm>
            <a:off x="9134856" y="1645920"/>
            <a:ext cx="2697480" cy="731520"/>
          </a:xfrm>
          <a:prstGeom prst="rect">
            <a:avLst/>
          </a:prstGeom>
          <a:noFill/>
          <a:ln/>
        </p:spPr>
        <p:txBody>
          <a:bodyPr wrap="square" lIns="0" tIns="0" rIns="0" bIns="0" rtlCol="0" anchor="ctr"/>
          <a:lstStyle/>
          <a:p>
            <a:pPr algn="ctr" indent="0" marL="0">
              <a:buNone/>
            </a:pPr>
            <a:r>
              <a:rPr lang="en-US" sz="3400" b="1" dirty="0">
                <a:solidFill>
                  <a:srgbClr val="E76F51"/>
                </a:solidFill>
                <a:latin typeface="Cambria" pitchFamily="34" charset="0"/>
                <a:ea typeface="Cambria" pitchFamily="34" charset="-122"/>
                <a:cs typeface="Cambria" pitchFamily="34" charset="-120"/>
              </a:rPr>
              <a:t>≈ 0</a:t>
            </a:r>
            <a:endParaRPr lang="en-US" sz="3400" dirty="0"/>
          </a:p>
        </p:txBody>
      </p:sp>
      <p:sp>
        <p:nvSpPr>
          <p:cNvPr id="14" name="Text 12"/>
          <p:cNvSpPr txBox="1"/>
          <p:nvPr/>
        </p:nvSpPr>
        <p:spPr>
          <a:xfrm>
            <a:off x="9272016" y="2377440"/>
            <a:ext cx="2423160" cy="777240"/>
          </a:xfrm>
          <a:prstGeom prst="rect">
            <a:avLst/>
          </a:prstGeom>
          <a:noFill/>
          <a:ln/>
        </p:spPr>
        <p:txBody>
          <a:bodyPr wrap="square" lIns="0" tIns="0" rIns="0" bIns="0" rtlCol="0" anchor="ctr"/>
          <a:lstStyle/>
          <a:p>
            <a:pPr algn="ctr" indent="0" marL="0">
              <a:buNone/>
            </a:pPr>
            <a:r>
              <a:rPr lang="en-US" sz="1250" dirty="0">
                <a:solidFill>
                  <a:srgbClr val="6B7B84"/>
                </a:solidFill>
                <a:latin typeface="Calibri" pitchFamily="34" charset="0"/>
                <a:ea typeface="Calibri" pitchFamily="34" charset="-122"/>
                <a:cs typeface="Calibri" pitchFamily="34" charset="-120"/>
              </a:rPr>
              <a:t>+ features − KD robuste</a:t>
            </a:r>
            <a:endParaRPr lang="en-US" sz="1250" dirty="0"/>
          </a:p>
          <a:p>
            <a:pPr algn="ctr" indent="0" marL="0">
              <a:buNone/>
            </a:pPr>
            <a:r>
              <a:rPr lang="en-US" sz="1250" dirty="0">
                <a:solidFill>
                  <a:srgbClr val="6B7B84"/>
                </a:solidFill>
                <a:latin typeface="Calibri" pitchFamily="34" charset="0"/>
                <a:ea typeface="Calibri" pitchFamily="34" charset="-122"/>
                <a:cs typeface="Calibri" pitchFamily="34" charset="-120"/>
              </a:rPr>
              <a:t>(non significatif)</a:t>
            </a:r>
            <a:endParaRPr lang="en-US" sz="1250" dirty="0"/>
          </a:p>
        </p:txBody>
      </p:sp>
      <p:sp>
        <p:nvSpPr>
          <p:cNvPr id="15" name="Text 13"/>
          <p:cNvSpPr txBox="1"/>
          <p:nvPr/>
        </p:nvSpPr>
        <p:spPr>
          <a:xfrm>
            <a:off x="548640" y="3611880"/>
            <a:ext cx="10058400" cy="365760"/>
          </a:xfrm>
          <a:prstGeom prst="rect">
            <a:avLst/>
          </a:prstGeom>
          <a:noFill/>
          <a:ln/>
        </p:spPr>
        <p:txBody>
          <a:bodyPr wrap="square" lIns="0" tIns="0" rIns="0" bIns="0" rtlCol="0" anchor="ctr"/>
          <a:lstStyle/>
          <a:p>
            <a:pPr indent="0" marL="0">
              <a:buNone/>
            </a:pPr>
            <a:r>
              <a:rPr lang="en-US" sz="1800" b="1" dirty="0">
                <a:solidFill>
                  <a:srgbClr val="0B3C5D"/>
                </a:solidFill>
                <a:latin typeface="Cambria" pitchFamily="34" charset="0"/>
                <a:ea typeface="Cambria" pitchFamily="34" charset="-122"/>
                <a:cs typeface="Cambria" pitchFamily="34" charset="-120"/>
              </a:rPr>
              <a:t>Lecture</a:t>
            </a:r>
            <a:endParaRPr lang="en-US" sz="1800" dirty="0"/>
          </a:p>
        </p:txBody>
      </p:sp>
      <p:sp>
        <p:nvSpPr>
          <p:cNvPr id="16" name="Text 14"/>
          <p:cNvSpPr txBox="1"/>
          <p:nvPr/>
        </p:nvSpPr>
        <p:spPr>
          <a:xfrm>
            <a:off x="640080" y="4069080"/>
            <a:ext cx="10972800" cy="2011680"/>
          </a:xfrm>
          <a:prstGeom prst="rect">
            <a:avLst/>
          </a:prstGeom>
          <a:noFill/>
          <a:ln/>
        </p:spPr>
        <p:txBody>
          <a:bodyPr wrap="square" lIns="0" tIns="0" rIns="0" bIns="0" rtlCol="0" anchor="ctr"/>
          <a:lstStyle/>
          <a:p>
            <a:pPr marL="228600" indent="-228600">
              <a:spcAft>
                <a:spcPts val="700"/>
              </a:spcAft>
              <a:buSzPct val="100000"/>
              <a:buChar char="•"/>
            </a:pPr>
            <a:r>
              <a:rPr lang="en-US" sz="1550" dirty="0">
                <a:solidFill>
                  <a:srgbClr val="16323D"/>
                </a:solidFill>
                <a:latin typeface="Calibri" pitchFamily="34" charset="0"/>
                <a:ea typeface="Calibri" pitchFamily="34" charset="-122"/>
                <a:cs typeface="Calibri" pitchFamily="34" charset="-120"/>
              </a:rPr>
              <a:t>Lu seul, « KD robuste vs scratch » ressemble à un succès net de la distillation</a:t>
            </a:r>
            <a:endParaRPr lang="en-US" sz="1550" dirty="0"/>
          </a:p>
          <a:p>
            <a:pPr marL="228600" indent="-228600">
              <a:spcAft>
                <a:spcPts val="700"/>
              </a:spcAft>
              <a:buSzPct val="100000"/>
              <a:buChar char="•"/>
            </a:pPr>
            <a:r>
              <a:rPr lang="en-US" sz="1550" dirty="0">
                <a:solidFill>
                  <a:srgbClr val="16323D"/>
                </a:solidFill>
                <a:latin typeface="Calibri" pitchFamily="34" charset="0"/>
                <a:ea typeface="Calibri" pitchFamily="34" charset="-122"/>
                <a:cs typeface="Calibri" pitchFamily="34" charset="-120"/>
              </a:rPr>
              <a:t>Le témoin montre que tout le gain vient de l'entraînement sur nuages parcimonieux, pas des cibles douces du teacher</a:t>
            </a:r>
            <a:endParaRPr lang="en-US" sz="1550" dirty="0"/>
          </a:p>
          <a:p>
            <a:pPr marL="228600" indent="-228600">
              <a:spcAft>
                <a:spcPts val="700"/>
              </a:spcAft>
              <a:buSzPct val="100000"/>
              <a:buChar char="•"/>
            </a:pPr>
            <a:r>
              <a:rPr lang="en-US" sz="1550" dirty="0">
                <a:solidFill>
                  <a:srgbClr val="16323D"/>
                </a:solidFill>
                <a:latin typeface="Calibri" pitchFamily="34" charset="0"/>
                <a:ea typeface="Calibri" pitchFamily="34" charset="-122"/>
                <a:cs typeface="Calibri" pitchFamily="34" charset="-120"/>
              </a:rPr>
              <a:t>Sans ce témoin, on aurait publié un faux positif</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Et avec un teacher robuste ?</a:t>
            </a:r>
            <a:endParaRPr lang="en-US" sz="3200" dirty="0"/>
          </a:p>
        </p:txBody>
      </p:sp>
      <p:graphicFrame>
        <p:nvGraphicFramePr>
          <p:cNvPr id="3" name="Chart 0" descr=""/>
          <p:cNvGraphicFramePr/>
          <p:nvPr/>
        </p:nvGraphicFramePr>
        <p:xfrm>
          <a:off x="548640" y="1417320"/>
          <a:ext cx="740664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183880" y="1554480"/>
            <a:ext cx="3429000" cy="4572000"/>
          </a:xfrm>
          <a:prstGeom prst="roundRect">
            <a:avLst>
              <a:gd name="adj" fmla="val 2400"/>
            </a:avLst>
          </a:prstGeom>
          <a:solidFill>
            <a:srgbClr val="08293A"/>
          </a:solidFill>
          <a:ln/>
          <a:effectLst>
            <a:outerShdw sx="100000" sy="100000" kx="0" ky="0" algn="bl" rotWithShape="0" blurRad="88900" dist="25400" dir="5400000">
              <a:srgbClr val="9AAEB5">
                <a:alpha val="35000"/>
              </a:srgbClr>
            </a:outerShdw>
          </a:effectLst>
        </p:spPr>
      </p:sp>
      <p:sp>
        <p:nvSpPr>
          <p:cNvPr id="5" name="Text 2"/>
          <p:cNvSpPr txBox="1"/>
          <p:nvPr/>
        </p:nvSpPr>
        <p:spPr>
          <a:xfrm>
            <a:off x="8412480" y="1783080"/>
            <a:ext cx="3017520" cy="365760"/>
          </a:xfrm>
          <a:prstGeom prst="rect">
            <a:avLst/>
          </a:prstGeom>
          <a:noFill/>
          <a:ln/>
        </p:spPr>
        <p:txBody>
          <a:bodyPr wrap="square" lIns="0" tIns="0" rIns="0" bIns="0" rtlCol="0" anchor="ctr"/>
          <a:lstStyle/>
          <a:p>
            <a:pPr indent="0" marL="0">
              <a:buNone/>
            </a:pPr>
            <a:r>
              <a:rPr lang="en-US" sz="1700" b="1" dirty="0">
                <a:solidFill>
                  <a:srgbClr val="2EC4B6"/>
                </a:solidFill>
                <a:latin typeface="Cambria" pitchFamily="34" charset="0"/>
                <a:ea typeface="Cambria" pitchFamily="34" charset="-122"/>
                <a:cs typeface="Cambria" pitchFamily="34" charset="-120"/>
              </a:rPr>
              <a:t>À retenir</a:t>
            </a:r>
            <a:endParaRPr lang="en-US" sz="1700" dirty="0"/>
          </a:p>
        </p:txBody>
      </p:sp>
      <p:sp>
        <p:nvSpPr>
          <p:cNvPr id="6" name="Text 3"/>
          <p:cNvSpPr txBox="1"/>
          <p:nvPr/>
        </p:nvSpPr>
        <p:spPr>
          <a:xfrm>
            <a:off x="8503920" y="2286000"/>
            <a:ext cx="2971800" cy="3657600"/>
          </a:xfrm>
          <a:prstGeom prst="rect">
            <a:avLst/>
          </a:prstGeom>
          <a:noFill/>
          <a:ln/>
        </p:spPr>
        <p:txBody>
          <a:bodyPr wrap="square" lIns="0" tIns="0" rIns="0" bIns="0" rtlCol="0" anchor="ctr"/>
          <a:lstStyle/>
          <a:p>
            <a:pPr marL="203200" indent="-203200">
              <a:lnSpc>
                <a:spcPct val="105000"/>
              </a:lnSpc>
              <a:spcAft>
                <a:spcPts val="1100"/>
              </a:spcAft>
              <a:buSzPct val="100000"/>
              <a:buChar char="•"/>
            </a:pPr>
            <a:r>
              <a:rPr lang="en-US" sz="1300" dirty="0">
                <a:solidFill>
                  <a:srgbClr val="E6F2F3"/>
                </a:solidFill>
                <a:latin typeface="Calibri" pitchFamily="34" charset="0"/>
                <a:ea typeface="Calibri" pitchFamily="34" charset="-122"/>
                <a:cs typeface="Calibri" pitchFamily="34" charset="-120"/>
              </a:rPr>
              <a:t>Le teacher entraîné avec sous-échantillonnage reste sous le student aug (0/5 seeds gagnées à 64 pts).</a:t>
            </a:r>
            <a:endParaRPr lang="en-US" sz="1300" dirty="0"/>
          </a:p>
          <a:p>
            <a:pPr marL="203200" indent="-203200">
              <a:lnSpc>
                <a:spcPct val="105000"/>
              </a:lnSpc>
              <a:spcAft>
                <a:spcPts val="1100"/>
              </a:spcAft>
              <a:buSzPct val="100000"/>
              <a:buChar char="•"/>
            </a:pPr>
            <a:r>
              <a:rPr lang="en-US" sz="1300" dirty="0">
                <a:solidFill>
                  <a:srgbClr val="E6F2F3"/>
                </a:solidFill>
                <a:latin typeface="Calibri" pitchFamily="34" charset="0"/>
                <a:ea typeface="Calibri" pitchFamily="34" charset="-122"/>
                <a:cs typeface="Calibri" pitchFamily="34" charset="-120"/>
              </a:rPr>
              <a:t>KD depuis lui − aug ≈ 0 (p ≥ 0.45).</a:t>
            </a:r>
            <a:endParaRPr lang="en-US" sz="1300" dirty="0"/>
          </a:p>
          <a:p>
            <a:pPr marL="203200" indent="-203200">
              <a:lnSpc>
                <a:spcPct val="105000"/>
              </a:lnSpc>
              <a:spcAft>
                <a:spcPts val="1100"/>
              </a:spcAft>
              <a:buSzPct val="100000"/>
              <a:buChar char="•"/>
            </a:pPr>
            <a:r>
              <a:rPr lang="en-US" sz="1300" dirty="0">
                <a:solidFill>
                  <a:srgbClr val="E6F2F3"/>
                </a:solidFill>
                <a:latin typeface="Calibri" pitchFamily="34" charset="0"/>
                <a:ea typeface="Calibri" pitchFamily="34" charset="-122"/>
                <a:cs typeface="Calibri" pitchFamily="34" charset="-120"/>
              </a:rPr>
              <a:t>Plus de poids au teacher (α = 0.3) dégrade le student (−0.022 à 16 pts, p = 0.02).</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Analyse critique</a:t>
            </a:r>
            <a:endParaRPr lang="en-US" sz="3200" dirty="0"/>
          </a:p>
        </p:txBody>
      </p:sp>
      <p:sp>
        <p:nvSpPr>
          <p:cNvPr id="3" name="Shape 1"/>
          <p:cNvSpPr/>
          <p:nvPr/>
        </p:nvSpPr>
        <p:spPr>
          <a:xfrm>
            <a:off x="548640" y="1508760"/>
            <a:ext cx="11064240" cy="1325880"/>
          </a:xfrm>
          <a:prstGeom prst="roundRect">
            <a:avLst>
              <a:gd name="adj" fmla="val 6207"/>
            </a:avLst>
          </a:prstGeom>
          <a:solidFill>
            <a:srgbClr val="EAF3F3"/>
          </a:solidFill>
          <a:ln/>
          <a:effectLst>
            <a:outerShdw sx="100000" sy="100000" kx="0" ky="0" algn="bl" rotWithShape="0" blurRad="88900" dist="25400" dir="5400000">
              <a:srgbClr val="9AAEB5">
                <a:alpha val="35000"/>
              </a:srgbClr>
            </a:outerShdw>
          </a:effectLst>
        </p:spPr>
      </p:sp>
      <p:sp>
        <p:nvSpPr>
          <p:cNvPr id="4" name="Text 2"/>
          <p:cNvSpPr txBox="1"/>
          <p:nvPr/>
        </p:nvSpPr>
        <p:spPr>
          <a:xfrm>
            <a:off x="868680" y="1764792"/>
            <a:ext cx="822960" cy="822960"/>
          </a:xfrm>
          <a:prstGeom prst="rect">
            <a:avLst/>
          </a:prstGeom>
          <a:noFill/>
          <a:ln/>
        </p:spPr>
        <p:txBody>
          <a:bodyPr wrap="square" lIns="0" tIns="0" rIns="0" bIns="0" rtlCol="0" anchor="ctr"/>
          <a:lstStyle/>
          <a:p>
            <a:pPr algn="ctr" indent="0" marL="0">
              <a:buNone/>
            </a:pPr>
            <a:r>
              <a:rPr lang="en-US" sz="3000" b="1" dirty="0">
                <a:solidFill>
                  <a:srgbClr val="E76F51"/>
                </a:solidFill>
                <a:latin typeface="Cambria" pitchFamily="34" charset="0"/>
                <a:ea typeface="Cambria" pitchFamily="34" charset="-122"/>
                <a:cs typeface="Cambria" pitchFamily="34" charset="-120"/>
              </a:rPr>
              <a:t>1</a:t>
            </a:r>
            <a:endParaRPr lang="en-US" sz="3000" dirty="0"/>
          </a:p>
        </p:txBody>
      </p:sp>
      <p:sp>
        <p:nvSpPr>
          <p:cNvPr id="5" name="Text 3"/>
          <p:cNvSpPr txBox="1"/>
          <p:nvPr/>
        </p:nvSpPr>
        <p:spPr>
          <a:xfrm>
            <a:off x="1828800" y="1664208"/>
            <a:ext cx="9509760" cy="457200"/>
          </a:xfrm>
          <a:prstGeom prst="rect">
            <a:avLst/>
          </a:prstGeom>
          <a:noFill/>
          <a:ln/>
        </p:spPr>
        <p:txBody>
          <a:bodyPr wrap="square" lIns="0" tIns="0" rIns="0" bIns="0" rtlCol="0" anchor="ctr"/>
          <a:lstStyle/>
          <a:p>
            <a:pPr indent="0" marL="0">
              <a:buNone/>
            </a:pPr>
            <a:r>
              <a:rPr lang="en-US" sz="1800" b="1" dirty="0">
                <a:solidFill>
                  <a:srgbClr val="16323D"/>
                </a:solidFill>
                <a:latin typeface="Cambria" pitchFamily="34" charset="0"/>
                <a:ea typeface="Cambria" pitchFamily="34" charset="-122"/>
                <a:cs typeface="Cambria" pitchFamily="34" charset="-120"/>
              </a:rPr>
              <a:t>H1 est réfutée</a:t>
            </a:r>
            <a:endParaRPr lang="en-US" sz="1800" dirty="0"/>
          </a:p>
        </p:txBody>
      </p:sp>
      <p:sp>
        <p:nvSpPr>
          <p:cNvPr id="6" name="Text 4"/>
          <p:cNvSpPr txBox="1"/>
          <p:nvPr/>
        </p:nvSpPr>
        <p:spPr>
          <a:xfrm>
            <a:off x="1828800" y="2103120"/>
            <a:ext cx="9601200" cy="658368"/>
          </a:xfrm>
          <a:prstGeom prst="rect">
            <a:avLst/>
          </a:prstGeom>
          <a:noFill/>
          <a:ln/>
        </p:spPr>
        <p:txBody>
          <a:bodyPr wrap="square" lIns="0" tIns="0" rIns="0" bIns="0" rtlCol="0" anchor="ctr"/>
          <a:lstStyle/>
          <a:p>
            <a:pPr indent="0" marL="0">
              <a:lnSpc>
                <a:spcPct val="103000"/>
              </a:lnSpc>
              <a:buNone/>
            </a:pPr>
            <a:r>
              <a:rPr lang="en-US" sz="1400" dirty="0">
                <a:solidFill>
                  <a:srgbClr val="33474F"/>
                </a:solidFill>
                <a:latin typeface="Calibri" pitchFamily="34" charset="0"/>
                <a:ea typeface="Calibri" pitchFamily="34" charset="-122"/>
                <a:cs typeface="Calibri" pitchFamily="34" charset="-120"/>
              </a:rPr>
              <a:t>Aucune variante de KD (logits, features, teacher dense ou robuste, deux α) ne bat le simple sous-échantillonnage à l'entraînement.</a:t>
            </a:r>
            <a:endParaRPr lang="en-US" sz="1400" dirty="0"/>
          </a:p>
        </p:txBody>
      </p:sp>
      <p:sp>
        <p:nvSpPr>
          <p:cNvPr id="7" name="Shape 5"/>
          <p:cNvSpPr/>
          <p:nvPr/>
        </p:nvSpPr>
        <p:spPr>
          <a:xfrm>
            <a:off x="548640" y="2990088"/>
            <a:ext cx="11064240" cy="1325880"/>
          </a:xfrm>
          <a:prstGeom prst="roundRect">
            <a:avLst>
              <a:gd name="adj" fmla="val 6207"/>
            </a:avLst>
          </a:prstGeom>
          <a:solidFill>
            <a:srgbClr val="F2F6F7"/>
          </a:solidFill>
          <a:ln/>
          <a:effectLst>
            <a:outerShdw sx="100000" sy="100000" kx="0" ky="0" algn="bl" rotWithShape="0" blurRad="88900" dist="25400" dir="5400000">
              <a:srgbClr val="9AAEB5">
                <a:alpha val="35000"/>
              </a:srgbClr>
            </a:outerShdw>
          </a:effectLst>
        </p:spPr>
      </p:sp>
      <p:sp>
        <p:nvSpPr>
          <p:cNvPr id="8" name="Text 6"/>
          <p:cNvSpPr txBox="1"/>
          <p:nvPr/>
        </p:nvSpPr>
        <p:spPr>
          <a:xfrm>
            <a:off x="868680" y="3246120"/>
            <a:ext cx="822960" cy="822960"/>
          </a:xfrm>
          <a:prstGeom prst="rect">
            <a:avLst/>
          </a:prstGeom>
          <a:noFill/>
          <a:ln/>
        </p:spPr>
        <p:txBody>
          <a:bodyPr wrap="square" lIns="0" tIns="0" rIns="0" bIns="0" rtlCol="0" anchor="ctr"/>
          <a:lstStyle/>
          <a:p>
            <a:pPr algn="ctr" indent="0" marL="0">
              <a:buNone/>
            </a:pPr>
            <a:r>
              <a:rPr lang="en-US" sz="3000" b="1" dirty="0">
                <a:solidFill>
                  <a:srgbClr val="1C7293"/>
                </a:solidFill>
                <a:latin typeface="Cambria" pitchFamily="34" charset="0"/>
                <a:ea typeface="Cambria" pitchFamily="34" charset="-122"/>
                <a:cs typeface="Cambria" pitchFamily="34" charset="-120"/>
              </a:rPr>
              <a:t>2</a:t>
            </a:r>
            <a:endParaRPr lang="en-US" sz="3000" dirty="0"/>
          </a:p>
        </p:txBody>
      </p:sp>
      <p:sp>
        <p:nvSpPr>
          <p:cNvPr id="9" name="Text 7"/>
          <p:cNvSpPr txBox="1"/>
          <p:nvPr/>
        </p:nvSpPr>
        <p:spPr>
          <a:xfrm>
            <a:off x="1828800" y="3145536"/>
            <a:ext cx="9509760" cy="457200"/>
          </a:xfrm>
          <a:prstGeom prst="rect">
            <a:avLst/>
          </a:prstGeom>
          <a:noFill/>
          <a:ln/>
        </p:spPr>
        <p:txBody>
          <a:bodyPr wrap="square" lIns="0" tIns="0" rIns="0" bIns="0" rtlCol="0" anchor="ctr"/>
          <a:lstStyle/>
          <a:p>
            <a:pPr indent="0" marL="0">
              <a:buNone/>
            </a:pPr>
            <a:r>
              <a:rPr lang="en-US" sz="1800" b="1" dirty="0">
                <a:solidFill>
                  <a:srgbClr val="16323D"/>
                </a:solidFill>
                <a:latin typeface="Cambria" pitchFamily="34" charset="0"/>
                <a:ea typeface="Cambria" pitchFamily="34" charset="-122"/>
                <a:cs typeface="Cambria" pitchFamily="34" charset="-120"/>
              </a:rPr>
              <a:t>Pourquoi : le teacher n'en sait jamais plus</a:t>
            </a:r>
            <a:endParaRPr lang="en-US" sz="1800" dirty="0"/>
          </a:p>
        </p:txBody>
      </p:sp>
      <p:sp>
        <p:nvSpPr>
          <p:cNvPr id="10" name="Text 8"/>
          <p:cNvSpPr txBox="1"/>
          <p:nvPr/>
        </p:nvSpPr>
        <p:spPr>
          <a:xfrm>
            <a:off x="1828800" y="3584448"/>
            <a:ext cx="9601200" cy="658368"/>
          </a:xfrm>
          <a:prstGeom prst="rect">
            <a:avLst/>
          </a:prstGeom>
          <a:noFill/>
          <a:ln/>
        </p:spPr>
        <p:txBody>
          <a:bodyPr wrap="square" lIns="0" tIns="0" rIns="0" bIns="0" rtlCol="0" anchor="ctr"/>
          <a:lstStyle/>
          <a:p>
            <a:pPr indent="0" marL="0">
              <a:lnSpc>
                <a:spcPct val="103000"/>
              </a:lnSpc>
              <a:buNone/>
            </a:pPr>
            <a:r>
              <a:rPr lang="en-US" sz="1400" dirty="0">
                <a:solidFill>
                  <a:srgbClr val="33474F"/>
                </a:solidFill>
                <a:latin typeface="Calibri" pitchFamily="34" charset="0"/>
                <a:ea typeface="Calibri" pitchFamily="34" charset="-122"/>
                <a:cs typeface="Calibri" pitchFamily="34" charset="-120"/>
              </a:rPr>
              <a:t>Petit dataset (1158 nodules) → la capacité du teacher sur-apprend ; il n'a rien à transférer au-delà de ce que le student apprend seul.</a:t>
            </a:r>
            <a:endParaRPr lang="en-US" sz="1400" dirty="0"/>
          </a:p>
        </p:txBody>
      </p:sp>
      <p:sp>
        <p:nvSpPr>
          <p:cNvPr id="11" name="Shape 9"/>
          <p:cNvSpPr/>
          <p:nvPr/>
        </p:nvSpPr>
        <p:spPr>
          <a:xfrm>
            <a:off x="548640" y="4471416"/>
            <a:ext cx="11064240" cy="1325880"/>
          </a:xfrm>
          <a:prstGeom prst="roundRect">
            <a:avLst>
              <a:gd name="adj" fmla="val 6207"/>
            </a:avLst>
          </a:prstGeom>
          <a:solidFill>
            <a:srgbClr val="EAF3F3"/>
          </a:solidFill>
          <a:ln/>
          <a:effectLst>
            <a:outerShdw sx="100000" sy="100000" kx="0" ky="0" algn="bl" rotWithShape="0" blurRad="88900" dist="25400" dir="5400000">
              <a:srgbClr val="9AAEB5">
                <a:alpha val="35000"/>
              </a:srgbClr>
            </a:outerShdw>
          </a:effectLst>
        </p:spPr>
      </p:sp>
      <p:sp>
        <p:nvSpPr>
          <p:cNvPr id="12" name="Text 10"/>
          <p:cNvSpPr txBox="1"/>
          <p:nvPr/>
        </p:nvSpPr>
        <p:spPr>
          <a:xfrm>
            <a:off x="868680" y="4727448"/>
            <a:ext cx="822960" cy="822960"/>
          </a:xfrm>
          <a:prstGeom prst="rect">
            <a:avLst/>
          </a:prstGeom>
          <a:noFill/>
          <a:ln/>
        </p:spPr>
        <p:txBody>
          <a:bodyPr wrap="square" lIns="0" tIns="0" rIns="0" bIns="0" rtlCol="0" anchor="ctr"/>
          <a:lstStyle/>
          <a:p>
            <a:pPr algn="ctr" indent="0" marL="0">
              <a:buNone/>
            </a:pPr>
            <a:r>
              <a:rPr lang="en-US" sz="3000" b="1" dirty="0">
                <a:solidFill>
                  <a:srgbClr val="0B3C5D"/>
                </a:solidFill>
                <a:latin typeface="Cambria" pitchFamily="34" charset="0"/>
                <a:ea typeface="Cambria" pitchFamily="34" charset="-122"/>
                <a:cs typeface="Cambria" pitchFamily="34" charset="-120"/>
              </a:rPr>
              <a:t>3</a:t>
            </a:r>
            <a:endParaRPr lang="en-US" sz="3000" dirty="0"/>
          </a:p>
        </p:txBody>
      </p:sp>
      <p:sp>
        <p:nvSpPr>
          <p:cNvPr id="13" name="Text 11"/>
          <p:cNvSpPr txBox="1"/>
          <p:nvPr/>
        </p:nvSpPr>
        <p:spPr>
          <a:xfrm>
            <a:off x="1828800" y="4626864"/>
            <a:ext cx="9509760" cy="457200"/>
          </a:xfrm>
          <a:prstGeom prst="rect">
            <a:avLst/>
          </a:prstGeom>
          <a:noFill/>
          <a:ln/>
        </p:spPr>
        <p:txBody>
          <a:bodyPr wrap="square" lIns="0" tIns="0" rIns="0" bIns="0" rtlCol="0" anchor="ctr"/>
          <a:lstStyle/>
          <a:p>
            <a:pPr indent="0" marL="0">
              <a:buNone/>
            </a:pPr>
            <a:r>
              <a:rPr lang="en-US" sz="1800" b="1" dirty="0">
                <a:solidFill>
                  <a:srgbClr val="16323D"/>
                </a:solidFill>
                <a:latin typeface="Cambria" pitchFamily="34" charset="0"/>
                <a:ea typeface="Cambria" pitchFamily="34" charset="-122"/>
                <a:cs typeface="Cambria" pitchFamily="34" charset="-120"/>
              </a:rPr>
              <a:t>Le seuil dépend de la densité</a:t>
            </a:r>
            <a:endParaRPr lang="en-US" sz="1800" dirty="0"/>
          </a:p>
        </p:txBody>
      </p:sp>
      <p:sp>
        <p:nvSpPr>
          <p:cNvPr id="14" name="Text 12"/>
          <p:cNvSpPr txBox="1"/>
          <p:nvPr/>
        </p:nvSpPr>
        <p:spPr>
          <a:xfrm>
            <a:off x="1828800" y="5065776"/>
            <a:ext cx="9601200" cy="658368"/>
          </a:xfrm>
          <a:prstGeom prst="rect">
            <a:avLst/>
          </a:prstGeom>
          <a:noFill/>
          <a:ln/>
        </p:spPr>
        <p:txBody>
          <a:bodyPr wrap="square" lIns="0" tIns="0" rIns="0" bIns="0" rtlCol="0" anchor="ctr"/>
          <a:lstStyle/>
          <a:p>
            <a:pPr indent="0" marL="0">
              <a:lnSpc>
                <a:spcPct val="103000"/>
              </a:lnSpc>
              <a:buNone/>
            </a:pPr>
            <a:r>
              <a:rPr lang="en-US" sz="1400" dirty="0">
                <a:solidFill>
                  <a:srgbClr val="33474F"/>
                </a:solidFill>
                <a:latin typeface="Calibri" pitchFamily="34" charset="0"/>
                <a:ea typeface="Calibri" pitchFamily="34" charset="-122"/>
                <a:cs typeface="Calibri" pitchFamily="34" charset="-120"/>
              </a:rPr>
              <a:t>L'AUC survit, mais la balanced accuracy tombe à 0.5 en basse densité (tout « bénin ») pour les modèles denses, et inversement → calibrer le seuil par 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Limites &amp; perspectives</a:t>
            </a:r>
            <a:endParaRPr lang="en-US" sz="3200" dirty="0"/>
          </a:p>
        </p:txBody>
      </p:sp>
      <p:sp>
        <p:nvSpPr>
          <p:cNvPr id="3" name="Shape 1"/>
          <p:cNvSpPr/>
          <p:nvPr/>
        </p:nvSpPr>
        <p:spPr>
          <a:xfrm>
            <a:off x="548640" y="1554480"/>
            <a:ext cx="5394960" cy="1874520"/>
          </a:xfrm>
          <a:prstGeom prst="roundRect">
            <a:avLst>
              <a:gd name="adj" fmla="val 4390"/>
            </a:avLst>
          </a:prstGeom>
          <a:solidFill>
            <a:srgbClr val="F2F6F7"/>
          </a:solidFill>
          <a:ln/>
          <a:effectLst>
            <a:outerShdw sx="100000" sy="100000" kx="0" ky="0" algn="bl" rotWithShape="0" blurRad="88900" dist="25400" dir="5400000">
              <a:srgbClr val="9AAEB5">
                <a:alpha val="35000"/>
              </a:srgbClr>
            </a:outerShdw>
          </a:effectLst>
        </p:spPr>
      </p:sp>
      <p:sp>
        <p:nvSpPr>
          <p:cNvPr id="4" name="Shape 2"/>
          <p:cNvSpPr/>
          <p:nvPr/>
        </p:nvSpPr>
        <p:spPr>
          <a:xfrm>
            <a:off x="822960" y="1828800"/>
            <a:ext cx="566928" cy="566928"/>
          </a:xfrm>
          <a:prstGeom prst="ellipse">
            <a:avLst/>
          </a:prstGeom>
          <a:solidFill>
            <a:srgbClr val="E76F51"/>
          </a:solidFill>
          <a:ln/>
        </p:spPr>
      </p:sp>
      <p:sp>
        <p:nvSpPr>
          <p:cNvPr id="5" name="Text 3"/>
          <p:cNvSpPr txBox="1"/>
          <p:nvPr/>
        </p:nvSpPr>
        <p:spPr>
          <a:xfrm>
            <a:off x="822960" y="18288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554480" y="1847088"/>
            <a:ext cx="4206240" cy="548640"/>
          </a:xfrm>
          <a:prstGeom prst="rect">
            <a:avLst/>
          </a:prstGeom>
          <a:noFill/>
          <a:ln/>
        </p:spPr>
        <p:txBody>
          <a:bodyPr wrap="square" lIns="0" tIns="0" rIns="0" bIns="0" rtlCol="0" anchor="ctr"/>
          <a:lstStyle/>
          <a:p>
            <a:pPr indent="0" marL="0">
              <a:buNone/>
            </a:pPr>
            <a:r>
              <a:rPr lang="en-US" sz="1650" b="1" dirty="0">
                <a:solidFill>
                  <a:srgbClr val="0B3C5D"/>
                </a:solidFill>
                <a:latin typeface="Cambria" pitchFamily="34" charset="0"/>
                <a:ea typeface="Cambria" pitchFamily="34" charset="-122"/>
                <a:cs typeface="Cambria" pitchFamily="34" charset="-120"/>
              </a:rPr>
              <a:t>Taille du nodule effacée</a:t>
            </a:r>
            <a:endParaRPr lang="en-US" sz="1650" dirty="0"/>
          </a:p>
        </p:txBody>
      </p:sp>
      <p:sp>
        <p:nvSpPr>
          <p:cNvPr id="7" name="Text 5"/>
          <p:cNvSpPr txBox="1"/>
          <p:nvPr/>
        </p:nvSpPr>
        <p:spPr>
          <a:xfrm>
            <a:off x="868680" y="2514600"/>
            <a:ext cx="4754880" cy="822960"/>
          </a:xfrm>
          <a:prstGeom prst="rect">
            <a:avLst/>
          </a:prstGeom>
          <a:noFill/>
          <a:ln/>
        </p:spPr>
        <p:txBody>
          <a:bodyPr wrap="square" lIns="0" tIns="0" rIns="0" bIns="0" rtlCol="0" anchor="ctr"/>
          <a:lstStyle/>
          <a:p>
            <a:pPr indent="0" marL="0">
              <a:lnSpc>
                <a:spcPct val="105000"/>
              </a:lnSpc>
              <a:buNone/>
            </a:pPr>
            <a:r>
              <a:rPr lang="en-US" sz="1350" dirty="0">
                <a:solidFill>
                  <a:srgbClr val="16323D"/>
                </a:solidFill>
                <a:latin typeface="Calibri" pitchFamily="34" charset="0"/>
                <a:ea typeface="Calibri" pitchFamily="34" charset="-122"/>
                <a:cs typeface="Calibri" pitchFamily="34" charset="-120"/>
              </a:rPr>
              <a:t>la normalisation à la boule unité supprime la taille (indice clé de malignité) → AUC plafonnée ~0.8</a:t>
            </a:r>
            <a:endParaRPr lang="en-US" sz="1350" dirty="0"/>
          </a:p>
        </p:txBody>
      </p:sp>
      <p:sp>
        <p:nvSpPr>
          <p:cNvPr id="8" name="Shape 6"/>
          <p:cNvSpPr/>
          <p:nvPr/>
        </p:nvSpPr>
        <p:spPr>
          <a:xfrm>
            <a:off x="6217920" y="1554480"/>
            <a:ext cx="5394960" cy="1874520"/>
          </a:xfrm>
          <a:prstGeom prst="roundRect">
            <a:avLst>
              <a:gd name="adj" fmla="val 4390"/>
            </a:avLst>
          </a:prstGeom>
          <a:solidFill>
            <a:srgbClr val="F2F6F7"/>
          </a:solidFill>
          <a:ln/>
          <a:effectLst>
            <a:outerShdw sx="100000" sy="100000" kx="0" ky="0" algn="bl" rotWithShape="0" blurRad="88900" dist="25400" dir="5400000">
              <a:srgbClr val="9AAEB5">
                <a:alpha val="35000"/>
              </a:srgbClr>
            </a:outerShdw>
          </a:effectLst>
        </p:spPr>
      </p:sp>
      <p:sp>
        <p:nvSpPr>
          <p:cNvPr id="9" name="Shape 7"/>
          <p:cNvSpPr/>
          <p:nvPr/>
        </p:nvSpPr>
        <p:spPr>
          <a:xfrm>
            <a:off x="6492240" y="1828800"/>
            <a:ext cx="566928" cy="566928"/>
          </a:xfrm>
          <a:prstGeom prst="ellipse">
            <a:avLst/>
          </a:prstGeom>
          <a:solidFill>
            <a:srgbClr val="E76F51"/>
          </a:solidFill>
          <a:ln/>
        </p:spPr>
      </p:sp>
      <p:sp>
        <p:nvSpPr>
          <p:cNvPr id="10" name="Text 8"/>
          <p:cNvSpPr txBox="1"/>
          <p:nvPr/>
        </p:nvSpPr>
        <p:spPr>
          <a:xfrm>
            <a:off x="6492240" y="18288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7223760" y="1847088"/>
            <a:ext cx="4206240" cy="548640"/>
          </a:xfrm>
          <a:prstGeom prst="rect">
            <a:avLst/>
          </a:prstGeom>
          <a:noFill/>
          <a:ln/>
        </p:spPr>
        <p:txBody>
          <a:bodyPr wrap="square" lIns="0" tIns="0" rIns="0" bIns="0" rtlCol="0" anchor="ctr"/>
          <a:lstStyle/>
          <a:p>
            <a:pPr indent="0" marL="0">
              <a:buNone/>
            </a:pPr>
            <a:r>
              <a:rPr lang="en-US" sz="1650" b="1" dirty="0">
                <a:solidFill>
                  <a:srgbClr val="0B3C5D"/>
                </a:solidFill>
                <a:latin typeface="Cambria" pitchFamily="34" charset="0"/>
                <a:ea typeface="Cambria" pitchFamily="34" charset="-122"/>
                <a:cs typeface="Cambria" pitchFamily="34" charset="-120"/>
              </a:rPr>
              <a:t>Puissance statistique</a:t>
            </a:r>
            <a:endParaRPr lang="en-US" sz="1650" dirty="0"/>
          </a:p>
        </p:txBody>
      </p:sp>
      <p:sp>
        <p:nvSpPr>
          <p:cNvPr id="12" name="Text 10"/>
          <p:cNvSpPr txBox="1"/>
          <p:nvPr/>
        </p:nvSpPr>
        <p:spPr>
          <a:xfrm>
            <a:off x="6537960" y="2514600"/>
            <a:ext cx="4754880" cy="822960"/>
          </a:xfrm>
          <a:prstGeom prst="rect">
            <a:avLst/>
          </a:prstGeom>
          <a:noFill/>
          <a:ln/>
        </p:spPr>
        <p:txBody>
          <a:bodyPr wrap="square" lIns="0" tIns="0" rIns="0" bIns="0" rtlCol="0" anchor="ctr"/>
          <a:lstStyle/>
          <a:p>
            <a:pPr indent="0" marL="0">
              <a:lnSpc>
                <a:spcPct val="105000"/>
              </a:lnSpc>
              <a:buNone/>
            </a:pPr>
            <a:r>
              <a:rPr lang="en-US" sz="1350" dirty="0">
                <a:solidFill>
                  <a:srgbClr val="16323D"/>
                </a:solidFill>
                <a:latin typeface="Calibri" pitchFamily="34" charset="0"/>
                <a:ea typeface="Calibri" pitchFamily="34" charset="-122"/>
                <a:cs typeface="Calibri" pitchFamily="34" charset="-120"/>
              </a:rPr>
              <a:t>310 nodules test, 5 seeds : un effet KD de ±0.01 resterait indétectable</a:t>
            </a:r>
            <a:endParaRPr lang="en-US" sz="1350" dirty="0"/>
          </a:p>
        </p:txBody>
      </p:sp>
      <p:sp>
        <p:nvSpPr>
          <p:cNvPr id="13" name="Shape 11"/>
          <p:cNvSpPr/>
          <p:nvPr/>
        </p:nvSpPr>
        <p:spPr>
          <a:xfrm>
            <a:off x="548640" y="3703320"/>
            <a:ext cx="5394960" cy="1874520"/>
          </a:xfrm>
          <a:prstGeom prst="roundRect">
            <a:avLst>
              <a:gd name="adj" fmla="val 4390"/>
            </a:avLst>
          </a:prstGeom>
          <a:solidFill>
            <a:srgbClr val="EAF3F3"/>
          </a:solidFill>
          <a:ln/>
          <a:effectLst>
            <a:outerShdw sx="100000" sy="100000" kx="0" ky="0" algn="bl" rotWithShape="0" blurRad="88900" dist="25400" dir="5400000">
              <a:srgbClr val="9AAEB5">
                <a:alpha val="35000"/>
              </a:srgbClr>
            </a:outerShdw>
          </a:effectLst>
        </p:spPr>
      </p:sp>
      <p:sp>
        <p:nvSpPr>
          <p:cNvPr id="14" name="Shape 12"/>
          <p:cNvSpPr/>
          <p:nvPr/>
        </p:nvSpPr>
        <p:spPr>
          <a:xfrm>
            <a:off x="822960" y="3977640"/>
            <a:ext cx="566928" cy="566928"/>
          </a:xfrm>
          <a:prstGeom prst="ellipse">
            <a:avLst/>
          </a:prstGeom>
          <a:solidFill>
            <a:srgbClr val="1C7293"/>
          </a:solidFill>
          <a:ln/>
        </p:spPr>
      </p:sp>
      <p:sp>
        <p:nvSpPr>
          <p:cNvPr id="15" name="Text 13"/>
          <p:cNvSpPr txBox="1"/>
          <p:nvPr/>
        </p:nvSpPr>
        <p:spPr>
          <a:xfrm>
            <a:off x="822960" y="39776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1554480" y="3995928"/>
            <a:ext cx="4206240" cy="548640"/>
          </a:xfrm>
          <a:prstGeom prst="rect">
            <a:avLst/>
          </a:prstGeom>
          <a:noFill/>
          <a:ln/>
        </p:spPr>
        <p:txBody>
          <a:bodyPr wrap="square" lIns="0" tIns="0" rIns="0" bIns="0" rtlCol="0" anchor="ctr"/>
          <a:lstStyle/>
          <a:p>
            <a:pPr indent="0" marL="0">
              <a:buNone/>
            </a:pPr>
            <a:r>
              <a:rPr lang="en-US" sz="1650" b="1" dirty="0">
                <a:solidFill>
                  <a:srgbClr val="0B3C5D"/>
                </a:solidFill>
                <a:latin typeface="Cambria" pitchFamily="34" charset="0"/>
                <a:ea typeface="Cambria" pitchFamily="34" charset="-122"/>
                <a:cs typeface="Cambria" pitchFamily="34" charset="-120"/>
              </a:rPr>
              <a:t>Un teacher vraiment supérieur</a:t>
            </a:r>
            <a:endParaRPr lang="en-US" sz="1650" dirty="0"/>
          </a:p>
        </p:txBody>
      </p:sp>
      <p:sp>
        <p:nvSpPr>
          <p:cNvPr id="17" name="Text 15"/>
          <p:cNvSpPr txBox="1"/>
          <p:nvPr/>
        </p:nvSpPr>
        <p:spPr>
          <a:xfrm>
            <a:off x="868680" y="4663440"/>
            <a:ext cx="4754880" cy="822960"/>
          </a:xfrm>
          <a:prstGeom prst="rect">
            <a:avLst/>
          </a:prstGeom>
          <a:noFill/>
          <a:ln/>
        </p:spPr>
        <p:txBody>
          <a:bodyPr wrap="square" lIns="0" tIns="0" rIns="0" bIns="0" rtlCol="0" anchor="ctr"/>
          <a:lstStyle/>
          <a:p>
            <a:pPr indent="0" marL="0">
              <a:lnSpc>
                <a:spcPct val="105000"/>
              </a:lnSpc>
              <a:buNone/>
            </a:pPr>
            <a:r>
              <a:rPr lang="en-US" sz="1350" dirty="0">
                <a:solidFill>
                  <a:srgbClr val="16323D"/>
                </a:solidFill>
                <a:latin typeface="Calibri" pitchFamily="34" charset="0"/>
                <a:ea typeface="Calibri" pitchFamily="34" charset="-122"/>
                <a:cs typeface="Calibri" pitchFamily="34" charset="-120"/>
              </a:rPr>
              <a:t>CNN 3D sur voxels distillé vers le student nuage de points (KD cross-modale)</a:t>
            </a:r>
            <a:endParaRPr lang="en-US" sz="1350" dirty="0"/>
          </a:p>
        </p:txBody>
      </p:sp>
      <p:sp>
        <p:nvSpPr>
          <p:cNvPr id="18" name="Shape 16"/>
          <p:cNvSpPr/>
          <p:nvPr/>
        </p:nvSpPr>
        <p:spPr>
          <a:xfrm>
            <a:off x="6217920" y="3703320"/>
            <a:ext cx="5394960" cy="1874520"/>
          </a:xfrm>
          <a:prstGeom prst="roundRect">
            <a:avLst>
              <a:gd name="adj" fmla="val 4390"/>
            </a:avLst>
          </a:prstGeom>
          <a:solidFill>
            <a:srgbClr val="EAF3F3"/>
          </a:solidFill>
          <a:ln/>
          <a:effectLst>
            <a:outerShdw sx="100000" sy="100000" kx="0" ky="0" algn="bl" rotWithShape="0" blurRad="88900" dist="25400" dir="5400000">
              <a:srgbClr val="9AAEB5">
                <a:alpha val="35000"/>
              </a:srgbClr>
            </a:outerShdw>
          </a:effectLst>
        </p:spPr>
      </p:sp>
      <p:sp>
        <p:nvSpPr>
          <p:cNvPr id="19" name="Shape 17"/>
          <p:cNvSpPr/>
          <p:nvPr/>
        </p:nvSpPr>
        <p:spPr>
          <a:xfrm>
            <a:off x="6492240" y="3977640"/>
            <a:ext cx="566928" cy="566928"/>
          </a:xfrm>
          <a:prstGeom prst="ellipse">
            <a:avLst/>
          </a:prstGeom>
          <a:solidFill>
            <a:srgbClr val="1C7293"/>
          </a:solidFill>
          <a:ln/>
        </p:spPr>
      </p:sp>
      <p:sp>
        <p:nvSpPr>
          <p:cNvPr id="20" name="Text 18"/>
          <p:cNvSpPr txBox="1"/>
          <p:nvPr/>
        </p:nvSpPr>
        <p:spPr>
          <a:xfrm>
            <a:off x="6492240" y="39776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9"/>
          <p:cNvSpPr txBox="1"/>
          <p:nvPr/>
        </p:nvSpPr>
        <p:spPr>
          <a:xfrm>
            <a:off x="7223760" y="3995928"/>
            <a:ext cx="4206240" cy="548640"/>
          </a:xfrm>
          <a:prstGeom prst="rect">
            <a:avLst/>
          </a:prstGeom>
          <a:noFill/>
          <a:ln/>
        </p:spPr>
        <p:txBody>
          <a:bodyPr wrap="square" lIns="0" tIns="0" rIns="0" bIns="0" rtlCol="0" anchor="ctr"/>
          <a:lstStyle/>
          <a:p>
            <a:pPr indent="0" marL="0">
              <a:buNone/>
            </a:pPr>
            <a:r>
              <a:rPr lang="en-US" sz="1650" b="1" dirty="0">
                <a:solidFill>
                  <a:srgbClr val="0B3C5D"/>
                </a:solidFill>
                <a:latin typeface="Cambria" pitchFamily="34" charset="0"/>
                <a:ea typeface="Cambria" pitchFamily="34" charset="-122"/>
                <a:cs typeface="Cambria" pitchFamily="34" charset="-120"/>
              </a:rPr>
              <a:t>Seuil &amp; sous-échantillonnage</a:t>
            </a:r>
            <a:endParaRPr lang="en-US" sz="1650" dirty="0"/>
          </a:p>
        </p:txBody>
      </p:sp>
      <p:sp>
        <p:nvSpPr>
          <p:cNvPr id="22" name="Text 20"/>
          <p:cNvSpPr txBox="1"/>
          <p:nvPr/>
        </p:nvSpPr>
        <p:spPr>
          <a:xfrm>
            <a:off x="6537960" y="4663440"/>
            <a:ext cx="4754880" cy="822960"/>
          </a:xfrm>
          <a:prstGeom prst="rect">
            <a:avLst/>
          </a:prstGeom>
          <a:noFill/>
          <a:ln/>
        </p:spPr>
        <p:txBody>
          <a:bodyPr wrap="square" lIns="0" tIns="0" rIns="0" bIns="0" rtlCol="0" anchor="ctr"/>
          <a:lstStyle/>
          <a:p>
            <a:pPr indent="0" marL="0">
              <a:lnSpc>
                <a:spcPct val="105000"/>
              </a:lnSpc>
              <a:buNone/>
            </a:pPr>
            <a:r>
              <a:rPr lang="en-US" sz="1350" dirty="0">
                <a:solidFill>
                  <a:srgbClr val="16323D"/>
                </a:solidFill>
                <a:latin typeface="Calibri" pitchFamily="34" charset="0"/>
                <a:ea typeface="Calibri" pitchFamily="34" charset="-122"/>
                <a:cs typeface="Calibri" pitchFamily="34" charset="-120"/>
              </a:rPr>
              <a:t>seuil calibré par densité ; sous-échantillonnage structuré (trous locaux, coupes)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293A"/>
        </a:solidFill>
      </p:bgPr>
    </p:bg>
    <p:spTree>
      <p:nvGrpSpPr>
        <p:cNvPr id="1" name=""/>
        <p:cNvGrpSpPr/>
        <p:nvPr/>
      </p:nvGrpSpPr>
      <p:grpSpPr>
        <a:xfrm>
          <a:off x="0" y="0"/>
          <a:ext cx="0" cy="0"/>
          <a:chOff x="0" y="0"/>
          <a:chExt cx="0" cy="0"/>
        </a:xfrm>
      </p:grpSpPr>
      <p:sp>
        <p:nvSpPr>
          <p:cNvPr id="2" name="Shape 0"/>
          <p:cNvSpPr/>
          <p:nvPr/>
        </p:nvSpPr>
        <p:spPr>
          <a:xfrm>
            <a:off x="2746623" y="4499576"/>
            <a:ext cx="85350" cy="85350"/>
          </a:xfrm>
          <a:prstGeom prst="ellipse">
            <a:avLst/>
          </a:prstGeom>
          <a:solidFill>
            <a:srgbClr val="1C7293">
              <a:alpha val="34449"/>
            </a:srgbClr>
          </a:solidFill>
          <a:ln/>
        </p:spPr>
      </p:sp>
      <p:sp>
        <p:nvSpPr>
          <p:cNvPr id="3" name="Shape 1"/>
          <p:cNvSpPr/>
          <p:nvPr/>
        </p:nvSpPr>
        <p:spPr>
          <a:xfrm>
            <a:off x="2038339" y="4382735"/>
            <a:ext cx="182266" cy="182266"/>
          </a:xfrm>
          <a:prstGeom prst="ellipse">
            <a:avLst/>
          </a:prstGeom>
          <a:solidFill>
            <a:srgbClr val="1C7293">
              <a:alpha val="49318"/>
            </a:srgbClr>
          </a:solidFill>
          <a:ln/>
        </p:spPr>
      </p:sp>
      <p:sp>
        <p:nvSpPr>
          <p:cNvPr id="4" name="Shape 2"/>
          <p:cNvSpPr/>
          <p:nvPr/>
        </p:nvSpPr>
        <p:spPr>
          <a:xfrm>
            <a:off x="2004885" y="6007315"/>
            <a:ext cx="219450" cy="219450"/>
          </a:xfrm>
          <a:prstGeom prst="ellipse">
            <a:avLst/>
          </a:prstGeom>
          <a:solidFill>
            <a:srgbClr val="1C7293">
              <a:alpha val="67240"/>
            </a:srgbClr>
          </a:solidFill>
          <a:ln/>
        </p:spPr>
      </p:sp>
      <p:sp>
        <p:nvSpPr>
          <p:cNvPr id="5" name="Shape 3"/>
          <p:cNvSpPr/>
          <p:nvPr/>
        </p:nvSpPr>
        <p:spPr>
          <a:xfrm>
            <a:off x="1242539" y="4999459"/>
            <a:ext cx="145399" cy="145399"/>
          </a:xfrm>
          <a:prstGeom prst="ellipse">
            <a:avLst/>
          </a:prstGeom>
          <a:solidFill>
            <a:srgbClr val="1C7293">
              <a:alpha val="38138"/>
            </a:srgbClr>
          </a:solidFill>
          <a:ln/>
        </p:spPr>
      </p:sp>
      <p:sp>
        <p:nvSpPr>
          <p:cNvPr id="6" name="Shape 4"/>
          <p:cNvSpPr/>
          <p:nvPr/>
        </p:nvSpPr>
        <p:spPr>
          <a:xfrm>
            <a:off x="1961038" y="4937840"/>
            <a:ext cx="212612" cy="212612"/>
          </a:xfrm>
          <a:prstGeom prst="ellipse">
            <a:avLst/>
          </a:prstGeom>
          <a:solidFill>
            <a:srgbClr val="1C7293">
              <a:alpha val="41604"/>
            </a:srgbClr>
          </a:solidFill>
          <a:ln/>
        </p:spPr>
      </p:sp>
      <p:sp>
        <p:nvSpPr>
          <p:cNvPr id="7" name="Shape 5"/>
          <p:cNvSpPr/>
          <p:nvPr/>
        </p:nvSpPr>
        <p:spPr>
          <a:xfrm>
            <a:off x="2753656" y="5934016"/>
            <a:ext cx="38572" cy="38572"/>
          </a:xfrm>
          <a:prstGeom prst="ellipse">
            <a:avLst/>
          </a:prstGeom>
          <a:solidFill>
            <a:srgbClr val="1C7293">
              <a:alpha val="45178"/>
            </a:srgbClr>
          </a:solidFill>
          <a:ln/>
        </p:spPr>
      </p:sp>
      <p:sp>
        <p:nvSpPr>
          <p:cNvPr id="8" name="Shape 6"/>
          <p:cNvSpPr/>
          <p:nvPr/>
        </p:nvSpPr>
        <p:spPr>
          <a:xfrm>
            <a:off x="2960091" y="5635725"/>
            <a:ext cx="103928" cy="103928"/>
          </a:xfrm>
          <a:prstGeom prst="ellipse">
            <a:avLst/>
          </a:prstGeom>
          <a:solidFill>
            <a:srgbClr val="1C7293">
              <a:alpha val="36135"/>
            </a:srgbClr>
          </a:solidFill>
          <a:ln/>
        </p:spPr>
      </p:sp>
      <p:sp>
        <p:nvSpPr>
          <p:cNvPr id="9" name="Shape 7"/>
          <p:cNvSpPr/>
          <p:nvPr/>
        </p:nvSpPr>
        <p:spPr>
          <a:xfrm>
            <a:off x="2186640" y="5512589"/>
            <a:ext cx="110011" cy="110011"/>
          </a:xfrm>
          <a:prstGeom prst="ellipse">
            <a:avLst/>
          </a:prstGeom>
          <a:solidFill>
            <a:srgbClr val="1C7293">
              <a:alpha val="75632"/>
            </a:srgbClr>
          </a:solidFill>
          <a:ln/>
        </p:spPr>
      </p:sp>
      <p:sp>
        <p:nvSpPr>
          <p:cNvPr id="10" name="Shape 8"/>
          <p:cNvSpPr/>
          <p:nvPr/>
        </p:nvSpPr>
        <p:spPr>
          <a:xfrm>
            <a:off x="1474177" y="6283372"/>
            <a:ext cx="110649" cy="110649"/>
          </a:xfrm>
          <a:prstGeom prst="ellipse">
            <a:avLst/>
          </a:prstGeom>
          <a:solidFill>
            <a:srgbClr val="1C7293">
              <a:alpha val="43834"/>
            </a:srgbClr>
          </a:solidFill>
          <a:ln/>
        </p:spPr>
      </p:sp>
      <p:sp>
        <p:nvSpPr>
          <p:cNvPr id="11" name="Shape 9"/>
          <p:cNvSpPr/>
          <p:nvPr/>
        </p:nvSpPr>
        <p:spPr>
          <a:xfrm>
            <a:off x="2851437" y="6473432"/>
            <a:ext cx="226419" cy="226419"/>
          </a:xfrm>
          <a:prstGeom prst="ellipse">
            <a:avLst/>
          </a:prstGeom>
          <a:solidFill>
            <a:srgbClr val="1C7293">
              <a:alpha val="34863"/>
            </a:srgbClr>
          </a:solidFill>
          <a:ln/>
        </p:spPr>
      </p:sp>
      <p:sp>
        <p:nvSpPr>
          <p:cNvPr id="12" name="Shape 10"/>
          <p:cNvSpPr/>
          <p:nvPr/>
        </p:nvSpPr>
        <p:spPr>
          <a:xfrm>
            <a:off x="2195476" y="4957725"/>
            <a:ext cx="99982" cy="99982"/>
          </a:xfrm>
          <a:prstGeom prst="ellipse">
            <a:avLst/>
          </a:prstGeom>
          <a:solidFill>
            <a:srgbClr val="1C7293">
              <a:alpha val="63970"/>
            </a:srgbClr>
          </a:solidFill>
          <a:ln/>
        </p:spPr>
      </p:sp>
      <p:sp>
        <p:nvSpPr>
          <p:cNvPr id="13" name="Shape 11"/>
          <p:cNvSpPr/>
          <p:nvPr/>
        </p:nvSpPr>
        <p:spPr>
          <a:xfrm>
            <a:off x="781912" y="5262270"/>
            <a:ext cx="56152" cy="56152"/>
          </a:xfrm>
          <a:prstGeom prst="ellipse">
            <a:avLst/>
          </a:prstGeom>
          <a:solidFill>
            <a:srgbClr val="1C7293">
              <a:alpha val="74486"/>
            </a:srgbClr>
          </a:solidFill>
          <a:ln/>
        </p:spPr>
      </p:sp>
      <p:sp>
        <p:nvSpPr>
          <p:cNvPr id="14" name="Shape 12"/>
          <p:cNvSpPr/>
          <p:nvPr/>
        </p:nvSpPr>
        <p:spPr>
          <a:xfrm>
            <a:off x="2189259" y="4644831"/>
            <a:ext cx="209981" cy="209981"/>
          </a:xfrm>
          <a:prstGeom prst="ellipse">
            <a:avLst/>
          </a:prstGeom>
          <a:solidFill>
            <a:srgbClr val="1C7293">
              <a:alpha val="65191"/>
            </a:srgbClr>
          </a:solidFill>
          <a:ln/>
        </p:spPr>
      </p:sp>
      <p:sp>
        <p:nvSpPr>
          <p:cNvPr id="15" name="Shape 13"/>
          <p:cNvSpPr/>
          <p:nvPr/>
        </p:nvSpPr>
        <p:spPr>
          <a:xfrm>
            <a:off x="1821599" y="4612310"/>
            <a:ext cx="37597" cy="37597"/>
          </a:xfrm>
          <a:prstGeom prst="ellipse">
            <a:avLst/>
          </a:prstGeom>
          <a:solidFill>
            <a:srgbClr val="1C7293">
              <a:alpha val="31163"/>
            </a:srgbClr>
          </a:solidFill>
          <a:ln/>
        </p:spPr>
      </p:sp>
      <p:sp>
        <p:nvSpPr>
          <p:cNvPr id="16" name="Shape 14"/>
          <p:cNvSpPr/>
          <p:nvPr/>
        </p:nvSpPr>
        <p:spPr>
          <a:xfrm>
            <a:off x="1559967" y="4654646"/>
            <a:ext cx="44610" cy="44610"/>
          </a:xfrm>
          <a:prstGeom prst="ellipse">
            <a:avLst/>
          </a:prstGeom>
          <a:solidFill>
            <a:srgbClr val="1C7293">
              <a:alpha val="61680"/>
            </a:srgbClr>
          </a:solidFill>
          <a:ln/>
        </p:spPr>
      </p:sp>
      <p:sp>
        <p:nvSpPr>
          <p:cNvPr id="17" name="Shape 15"/>
          <p:cNvSpPr/>
          <p:nvPr/>
        </p:nvSpPr>
        <p:spPr>
          <a:xfrm>
            <a:off x="657873" y="6511102"/>
            <a:ext cx="120194" cy="120194"/>
          </a:xfrm>
          <a:prstGeom prst="ellipse">
            <a:avLst/>
          </a:prstGeom>
          <a:solidFill>
            <a:srgbClr val="1C7293">
              <a:alpha val="47671"/>
            </a:srgbClr>
          </a:solidFill>
          <a:ln/>
        </p:spPr>
      </p:sp>
      <p:sp>
        <p:nvSpPr>
          <p:cNvPr id="18" name="Shape 16"/>
          <p:cNvSpPr/>
          <p:nvPr/>
        </p:nvSpPr>
        <p:spPr>
          <a:xfrm>
            <a:off x="914920" y="5382540"/>
            <a:ext cx="37249" cy="37249"/>
          </a:xfrm>
          <a:prstGeom prst="ellipse">
            <a:avLst/>
          </a:prstGeom>
          <a:solidFill>
            <a:srgbClr val="1C7293">
              <a:alpha val="54173"/>
            </a:srgbClr>
          </a:solidFill>
          <a:ln/>
        </p:spPr>
      </p:sp>
      <p:sp>
        <p:nvSpPr>
          <p:cNvPr id="19" name="Shape 17"/>
          <p:cNvSpPr/>
          <p:nvPr/>
        </p:nvSpPr>
        <p:spPr>
          <a:xfrm>
            <a:off x="347525" y="4404583"/>
            <a:ext cx="69735" cy="69735"/>
          </a:xfrm>
          <a:prstGeom prst="ellipse">
            <a:avLst/>
          </a:prstGeom>
          <a:solidFill>
            <a:srgbClr val="1C7293">
              <a:alpha val="67150"/>
            </a:srgbClr>
          </a:solidFill>
          <a:ln/>
        </p:spPr>
      </p:sp>
      <p:sp>
        <p:nvSpPr>
          <p:cNvPr id="20" name="Shape 18"/>
          <p:cNvSpPr/>
          <p:nvPr/>
        </p:nvSpPr>
        <p:spPr>
          <a:xfrm>
            <a:off x="2435262" y="5059730"/>
            <a:ext cx="148683" cy="148683"/>
          </a:xfrm>
          <a:prstGeom prst="ellipse">
            <a:avLst/>
          </a:prstGeom>
          <a:solidFill>
            <a:srgbClr val="1C7293">
              <a:alpha val="34134"/>
            </a:srgbClr>
          </a:solidFill>
          <a:ln/>
        </p:spPr>
      </p:sp>
      <p:sp>
        <p:nvSpPr>
          <p:cNvPr id="21" name="Shape 19"/>
          <p:cNvSpPr/>
          <p:nvPr/>
        </p:nvSpPr>
        <p:spPr>
          <a:xfrm>
            <a:off x="2373478" y="4499785"/>
            <a:ext cx="173186" cy="173186"/>
          </a:xfrm>
          <a:prstGeom prst="ellipse">
            <a:avLst/>
          </a:prstGeom>
          <a:solidFill>
            <a:srgbClr val="1C7293">
              <a:alpha val="75623"/>
            </a:srgbClr>
          </a:solidFill>
          <a:ln/>
        </p:spPr>
      </p:sp>
      <p:sp>
        <p:nvSpPr>
          <p:cNvPr id="22" name="Shape 20"/>
          <p:cNvSpPr/>
          <p:nvPr/>
        </p:nvSpPr>
        <p:spPr>
          <a:xfrm>
            <a:off x="2911764" y="4647384"/>
            <a:ext cx="135629" cy="135629"/>
          </a:xfrm>
          <a:prstGeom prst="ellipse">
            <a:avLst/>
          </a:prstGeom>
          <a:solidFill>
            <a:srgbClr val="1C7293">
              <a:alpha val="43436"/>
            </a:srgbClr>
          </a:solidFill>
          <a:ln/>
        </p:spPr>
      </p:sp>
      <p:sp>
        <p:nvSpPr>
          <p:cNvPr id="23" name="Shape 21"/>
          <p:cNvSpPr/>
          <p:nvPr/>
        </p:nvSpPr>
        <p:spPr>
          <a:xfrm>
            <a:off x="1559684" y="4651687"/>
            <a:ext cx="147884" cy="147884"/>
          </a:xfrm>
          <a:prstGeom prst="ellipse">
            <a:avLst/>
          </a:prstGeom>
          <a:solidFill>
            <a:srgbClr val="1C7293">
              <a:alpha val="67886"/>
            </a:srgbClr>
          </a:solidFill>
          <a:ln/>
        </p:spPr>
      </p:sp>
      <p:sp>
        <p:nvSpPr>
          <p:cNvPr id="24" name="Text 22"/>
          <p:cNvSpPr txBox="1"/>
          <p:nvPr/>
        </p:nvSpPr>
        <p:spPr>
          <a:xfrm>
            <a:off x="640080" y="822960"/>
            <a:ext cx="100584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25" name="Text 23"/>
          <p:cNvSpPr txBox="1"/>
          <p:nvPr/>
        </p:nvSpPr>
        <p:spPr>
          <a:xfrm>
            <a:off x="685800" y="1920240"/>
            <a:ext cx="10698480" cy="3474720"/>
          </a:xfrm>
          <a:prstGeom prst="rect">
            <a:avLst/>
          </a:prstGeom>
          <a:noFill/>
          <a:ln/>
        </p:spPr>
        <p:txBody>
          <a:bodyPr wrap="square" lIns="0" tIns="0" rIns="0" bIns="0" rtlCol="0" anchor="ctr"/>
          <a:lstStyle/>
          <a:p>
            <a:pPr marL="254000" indent="-254000">
              <a:lnSpc>
                <a:spcPct val="106000"/>
              </a:lnSpc>
              <a:spcAft>
                <a:spcPts val="1300"/>
              </a:spcAft>
              <a:buSzPct val="100000"/>
              <a:buChar char="•"/>
            </a:pPr>
            <a:r>
              <a:rPr lang="en-US" sz="1700" dirty="0">
                <a:solidFill>
                  <a:srgbClr val="E6F2F3"/>
                </a:solidFill>
                <a:latin typeface="Calibri" pitchFamily="34" charset="0"/>
                <a:ea typeface="Calibri" pitchFamily="34" charset="-122"/>
                <a:cs typeface="Calibri" pitchFamily="34" charset="-120"/>
              </a:rPr>
              <a:t>Le sous-échantillonnage dégrade nettement la classification (AUC ~0.77 → ~0.59 pour les modèles denses).</a:t>
            </a:r>
            <a:endParaRPr lang="en-US" sz="1700" dirty="0"/>
          </a:p>
          <a:p>
            <a:pPr marL="254000" indent="-254000">
              <a:lnSpc>
                <a:spcPct val="106000"/>
              </a:lnSpc>
              <a:spcAft>
                <a:spcPts val="1300"/>
              </a:spcAft>
              <a:buSzPct val="100000"/>
              <a:buChar char="•"/>
            </a:pPr>
            <a:r>
              <a:rPr lang="en-US" sz="1700" dirty="0">
                <a:solidFill>
                  <a:srgbClr val="E6F2F3"/>
                </a:solidFill>
                <a:latin typeface="Calibri" pitchFamily="34" charset="0"/>
                <a:ea typeface="Calibri" pitchFamily="34" charset="-122"/>
                <a:cs typeface="Calibri" pitchFamily="34" charset="-120"/>
              </a:rPr>
              <a:t>Entraîner sur des nuages parcimonieux le corrige : +0.03 → +0.08 AUC, à toutes les densités.</a:t>
            </a:r>
            <a:endParaRPr lang="en-US" sz="1700" dirty="0"/>
          </a:p>
          <a:p>
            <a:pPr marL="254000" indent="-254000">
              <a:lnSpc>
                <a:spcPct val="106000"/>
              </a:lnSpc>
              <a:spcAft>
                <a:spcPts val="1300"/>
              </a:spcAft>
              <a:buSzPct val="100000"/>
              <a:buChar char="•"/>
            </a:pPr>
            <a:r>
              <a:rPr lang="en-US" sz="1700" dirty="0">
                <a:solidFill>
                  <a:srgbClr val="E6F2F3"/>
                </a:solidFill>
                <a:latin typeface="Calibri" pitchFamily="34" charset="0"/>
                <a:ea typeface="Calibri" pitchFamily="34" charset="-122"/>
                <a:cs typeface="Calibri" pitchFamily="34" charset="-120"/>
              </a:rPr>
              <a:t>La distillation n'ajoute rien au-delà de cette augmentation : H1 réfutée, avec le bon témoin.</a:t>
            </a:r>
            <a:endParaRPr lang="en-US" sz="1700" dirty="0"/>
          </a:p>
          <a:p>
            <a:pPr marL="254000" indent="-254000">
              <a:lnSpc>
                <a:spcPct val="106000"/>
              </a:lnSpc>
              <a:spcAft>
                <a:spcPts val="1300"/>
              </a:spcAft>
              <a:buSzPct val="100000"/>
              <a:buChar char="•"/>
            </a:pPr>
            <a:r>
              <a:rPr lang="en-US" sz="1700" dirty="0">
                <a:solidFill>
                  <a:srgbClr val="E6F2F3"/>
                </a:solidFill>
                <a:latin typeface="Calibri" pitchFamily="34" charset="0"/>
                <a:ea typeface="Calibri" pitchFamily="34" charset="-122"/>
                <a:cs typeface="Calibri" pitchFamily="34" charset="-120"/>
              </a:rPr>
              <a:t>Leçon : une KD n'aide que si le teacher sait quelque chose que le student ne peut pas apprendre seul.</a:t>
            </a:r>
            <a:endParaRPr lang="en-US" sz="1700" dirty="0"/>
          </a:p>
        </p:txBody>
      </p:sp>
      <p:sp>
        <p:nvSpPr>
          <p:cNvPr id="26" name="Text 24"/>
          <p:cNvSpPr txBox="1"/>
          <p:nvPr/>
        </p:nvSpPr>
        <p:spPr>
          <a:xfrm>
            <a:off x="685800" y="5989320"/>
            <a:ext cx="10972800" cy="457200"/>
          </a:xfrm>
          <a:prstGeom prst="rect">
            <a:avLst/>
          </a:prstGeom>
          <a:noFill/>
          <a:ln/>
        </p:spPr>
        <p:txBody>
          <a:bodyPr wrap="square" lIns="0" tIns="0" rIns="0" bIns="0" rtlCol="0" anchor="ctr"/>
          <a:lstStyle/>
          <a:p>
            <a:pPr indent="0" marL="0">
              <a:buNone/>
            </a:pPr>
            <a:r>
              <a:rPr lang="en-US" sz="1300" dirty="0">
                <a:solidFill>
                  <a:srgbClr val="9FC2C8"/>
                </a:solidFill>
                <a:latin typeface="Calibri" pitchFamily="34" charset="0"/>
                <a:ea typeface="Calibri" pitchFamily="34" charset="-122"/>
                <a:cs typeface="Calibri" pitchFamily="34" charset="-120"/>
              </a:rPr>
              <a:t>Code reproductible : src/ · prepare_data.py · run_seeds.py · run_kd.py · run_robust_teacher.py · notebook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KD &amp; Robustesse au sous-echantillonnage</dc:title>
  <dc:subject>PptxGenJS Presentation</dc:subject>
  <dc:creator>Projet Point Clouds + KD</dc:creator>
  <cp:lastModifiedBy>Projet Point Clouds + KD</cp:lastModifiedBy>
  <cp:revision>1</cp:revision>
  <dcterms:created xsi:type="dcterms:W3CDTF">2026-10-26T12:41:59Z</dcterms:created>
  <dcterms:modified xsi:type="dcterms:W3CDTF">2026-10-26T12:41:59Z</dcterms:modified>
</cp:coreProperties>
</file>